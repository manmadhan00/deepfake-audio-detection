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07" r:id="rId4"/>
    <p:sldId id="308" r:id="rId5"/>
    <p:sldId id="259" r:id="rId6"/>
    <p:sldId id="265" r:id="rId7"/>
    <p:sldId id="260" r:id="rId8"/>
    <p:sldId id="310" r:id="rId9"/>
    <p:sldId id="311" r:id="rId10"/>
    <p:sldId id="312" r:id="rId11"/>
    <p:sldId id="313" r:id="rId12"/>
    <p:sldId id="268" r:id="rId13"/>
    <p:sldId id="269" r:id="rId14"/>
    <p:sldId id="289" r:id="rId15"/>
    <p:sldId id="282" r:id="rId16"/>
    <p:sldId id="264" r:id="rId17"/>
    <p:sldId id="300" r:id="rId18"/>
    <p:sldId id="318" r:id="rId19"/>
    <p:sldId id="297" r:id="rId20"/>
    <p:sldId id="295" r:id="rId21"/>
    <p:sldId id="301" r:id="rId22"/>
    <p:sldId id="302" r:id="rId23"/>
    <p:sldId id="270" r:id="rId24"/>
    <p:sldId id="296" r:id="rId25"/>
    <p:sldId id="273" r:id="rId26"/>
    <p:sldId id="294" r:id="rId27"/>
    <p:sldId id="314" r:id="rId28"/>
    <p:sldId id="315" r:id="rId29"/>
    <p:sldId id="316" r:id="rId30"/>
    <p:sldId id="304" r:id="rId31"/>
    <p:sldId id="305" r:id="rId32"/>
    <p:sldId id="317" r:id="rId33"/>
    <p:sldId id="271" r:id="rId34"/>
    <p:sldId id="292" r:id="rId35"/>
    <p:sldId id="319" r:id="rId36"/>
    <p:sldId id="272" r:id="rId3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941" autoAdjust="0"/>
  </p:normalViewPr>
  <p:slideViewPr>
    <p:cSldViewPr>
      <p:cViewPr varScale="1">
        <p:scale>
          <a:sx n="51" d="100"/>
          <a:sy n="51" d="100"/>
        </p:scale>
        <p:origin x="89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F37B-5B49-E986-D8EC-19840D48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020A28-F5DF-FCBB-BF23-98A09B8E69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BE855-6A20-0A47-9224-1571333D44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B903F1-48B4-84AB-1208-B73512F19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2D0826-DE82-F40E-CCA7-03E68BA56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98447-2E1B-5B63-C6D1-3E8C3840C5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F922-A66F-6360-EF86-3BAAAF04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39665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DCD4-5DDF-434C-CF5B-699C73DD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B00BC3-EA78-BDBE-F633-48C7A9810F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017CA-1942-CC6A-3247-9AF52B724E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37B8F2-6715-43A5-3A62-75509B32D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E23321-561B-F2EE-E7F8-7A916494B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EAB10-FD3E-FD4F-2A3F-E491DC743C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BB564-2999-1F68-6C95-D0214E99B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84832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F37B-5B49-E986-D8EC-19840D48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020A28-F5DF-FCBB-BF23-98A09B8E69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BE855-6A20-0A47-9224-1571333D44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B903F1-48B4-84AB-1208-B73512F19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F2D0826-DE82-F40E-CCA7-03E68BA56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98447-2E1B-5B63-C6D1-3E8C3840C5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9F922-A66F-6360-EF86-3BAAAF04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39665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DCD4-5DDF-434C-CF5B-699C73DD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B00BC3-EA78-BDBE-F633-48C7A9810F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017CA-1942-CC6A-3247-9AF52B724E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37B8F2-6715-43A5-3A62-75509B32D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E23321-561B-F2EE-E7F8-7A916494B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EAB10-FD3E-FD4F-2A3F-E491DC743C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BB564-2999-1F68-6C95-D0214E99B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84832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8F93-15CF-0832-A7E1-30B3EC02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7B4F95-34CB-B634-969E-96CF894E16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35397-8292-DB24-1812-8E5B000856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6AF1FEF-6EAD-F913-6C37-76FC19E56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2FC189-AEB8-5DCF-A088-A99EA4AE4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3B75C-3779-D7D6-3AEB-B12CFDC665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C4597-A4C4-59C0-DB4D-BD658715F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0744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6B66-539B-FFBA-93B1-3BE3B1A2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5CAD80-3371-AE52-0AFF-E6B86B7D6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554C0-E841-413D-B75F-781F397940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42D4A7-F1DA-F3CA-EBF8-92E08E6F6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EB68FD7-9491-987D-E19D-92E01ADB8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D6085-9032-5A92-422C-E196C2AEC2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DBB7B-78C0-1C2F-2881-275398C0C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830886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C17-6607-447F-FDB4-138C2D02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5A6CF-26BD-2A29-47BC-0BF2D61AF6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55E4F-3E39-75F7-5737-42DA19D30D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DDE852-3AB8-D3CE-7C61-A2841130F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D857B9-D136-B394-5DB3-7EFA261AA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AB22-45B8-EA45-B2AE-382E8E3933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87DF-D271-BB58-0B82-F5E24BDD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33800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7C17-6607-447F-FDB4-138C2D02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5A6CF-26BD-2A29-47BC-0BF2D61AF6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55E4F-3E39-75F7-5737-42DA19D30D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DDE852-3AB8-D3CE-7C61-A2841130F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D857B9-D136-B394-5DB3-7EFA261AA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AB22-45B8-EA45-B2AE-382E8E3933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87DF-D271-BB58-0B82-F5E24BDD2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439672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4826-7C17-7A5F-E572-1C545D75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E0B90B-663C-447C-1D65-7380215C32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8802A-7CF9-E6D1-3350-263509BB63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74B0A7-A594-A0F6-9E74-AEDF5E285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BA22E8D-F49D-F4A2-5758-46DFA7F52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99161-9442-D6FD-E5FB-22BB6A589A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4B740-7BFC-33BE-D422-28DD61D37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52381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E66B-C29A-3C6C-8BAD-2D42ADF6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52CF5D-A264-C0AB-2DC7-DD0E73FF60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37929-603F-F9C6-A51F-EE16418654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CE04905-C976-6915-E8C3-E95085D765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0351985-D4F4-6825-5803-77EF28996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DCA1F-FCD2-97F4-DC9C-2E6A66675C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069E5-0B72-230A-E783-C17C909F9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76491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BB2F-589D-DF28-E2B5-0273F7A5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6AAA26-819A-C8EE-5DF8-FF7D23685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F5381-B9AE-164E-B987-74F1C03C03C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9FDEB8-DE82-20B1-3724-4EEF961358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F72B5F-3E35-112D-0499-B21928706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6D596-D247-E37F-4FD7-C1F3488E0B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F6B63-A39D-9F0A-9919-3D2B27DAA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089131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3F-CE3E-108E-1324-F46535D4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625B42-3A26-A5FD-D353-1689329737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F7043-5F3B-FBE2-D030-0BE9BAFB70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14542-E55A-8143-5161-D6FF2274A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B56DC3-1152-E871-34E4-97BDC3B28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22237-D5E3-50D2-D07D-FFE9334F47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689D2-05EB-584C-808F-5F93F7AF1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892898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F43A-2CCB-7552-EDA0-94E0F830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B30E11-76A9-6F64-A1C3-636F3F0DEE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AD8B3-BDEA-046F-9645-1791BD14BF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D352432-4C2D-029B-36AC-1AB215DDC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A661257-F1BD-6A8C-1C3D-BA2BFF251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BB2CF-7823-14A9-B029-F13252EE01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D60ED-ED3E-5C82-EBCB-59FA5E1FB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195318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2E7D-F65E-1D88-EFF7-A120C489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784061-5022-7920-9623-A9569C5589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E6812-29EB-C5D4-9192-909C5E41D5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9349FA-6773-99D0-7C28-F2E608F21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9D422D-D554-92C9-B2AF-1D159D679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695D0-FD16-F663-F245-6F95F19131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5DECE-0FB8-A53D-C5E2-574860A05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0728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7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7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ravindhan002-deepfake-audio-detection-using-self----app-4urokb.streamlit.app/" TargetMode="External" /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3490227" y="847346"/>
            <a:ext cx="1560192" cy="1248154"/>
          </a:xfrm>
          <a:custGeom>
            <a:avLst/>
            <a:gdLst/>
            <a:ahLst/>
            <a:cxnLst/>
            <a:rect l="l" t="t" r="r" b="b"/>
            <a:pathLst>
              <a:path w="1560192" h="1248154">
                <a:moveTo>
                  <a:pt x="0" y="0"/>
                </a:moveTo>
                <a:lnTo>
                  <a:pt x="1560192" y="0"/>
                </a:lnTo>
                <a:lnTo>
                  <a:pt x="1560192" y="1248154"/>
                </a:lnTo>
                <a:lnTo>
                  <a:pt x="0" y="1248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11524249" y="5851214"/>
            <a:ext cx="6507074" cy="250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 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ARAVINDHAN A(22AI002)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MADHAN V (22AI025)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PREM KUMAR R (22AI039)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1136" y="3451793"/>
            <a:ext cx="14106843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Detection Using Self-Supervised Speech Embeddings and LSTM/</a:t>
            </a:r>
            <a:r>
              <a:rPr lang="en-IN" sz="4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</a:t>
            </a:r>
            <a:endParaRPr lang="en-IN" sz="4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24228" y="621953"/>
            <a:ext cx="10853558" cy="125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899" dirty="0">
                <a:solidFill>
                  <a:srgbClr val="464646"/>
                </a:solidFill>
                <a:latin typeface="Times New Roman"/>
                <a:ea typeface="Alice"/>
                <a:cs typeface="Times New Roman"/>
                <a:sym typeface="Alice"/>
              </a:rPr>
              <a:t>NANDHA ENGINEERING COLLEGE ERODE – 52 (AUTONOMOUS)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24228" y="1845894"/>
            <a:ext cx="10853558" cy="58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899" dirty="0">
                <a:solidFill>
                  <a:srgbClr val="464646"/>
                </a:solidFill>
                <a:latin typeface="Times New Roman"/>
                <a:ea typeface="Alice"/>
                <a:cs typeface="Times New Roman"/>
                <a:sym typeface="Alice"/>
              </a:rPr>
              <a:t>Department of Artificial Intelligence and Data Science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8FB6D818-27CF-F33B-E88F-11B84B0BADF5}"/>
              </a:ext>
            </a:extLst>
          </p:cNvPr>
          <p:cNvSpPr txBox="1"/>
          <p:nvPr/>
        </p:nvSpPr>
        <p:spPr>
          <a:xfrm>
            <a:off x="661160" y="7143876"/>
            <a:ext cx="6507074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M. Parvathi, M.E., Ph.D.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Assistant Professor, AI &amp; 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CB761-6607-A3D7-FBFB-A66A60E00830}"/>
              </a:ext>
            </a:extLst>
          </p:cNvPr>
          <p:cNvSpPr txBox="1"/>
          <p:nvPr/>
        </p:nvSpPr>
        <p:spPr>
          <a:xfrm>
            <a:off x="941252" y="9281867"/>
            <a:ext cx="37455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 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9FD87-20EE-5E2B-82AE-497E90AEF89A}"/>
              </a:ext>
            </a:extLst>
          </p:cNvPr>
          <p:cNvSpPr txBox="1"/>
          <p:nvPr/>
        </p:nvSpPr>
        <p:spPr>
          <a:xfrm>
            <a:off x="5169878" y="9281867"/>
            <a:ext cx="121070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22AID01- Project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99367" y="-195894"/>
            <a:ext cx="16479033" cy="2027337"/>
            <a:chOff x="-229644" y="0"/>
            <a:chExt cx="21972044" cy="2703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29644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CONTENTS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6800" y="2686547"/>
            <a:ext cx="13095086" cy="6878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Models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marL="323850" lvl="1" algn="l">
              <a:lnSpc>
                <a:spcPts val="6780"/>
              </a:lnSpc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Atkinson Hyperlegible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97598" y="-195894"/>
            <a:ext cx="16479033" cy="2027337"/>
            <a:chOff x="-229644" y="0"/>
            <a:chExt cx="21972044" cy="2703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29644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CONTENTS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1100" y="2564245"/>
            <a:ext cx="16625348" cy="7750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
Techniques Used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</a:t>
            </a:r>
          </a:p>
          <a:p>
            <a:pPr marL="781050" lvl="1" indent="-457200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Framework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  <a:p>
            <a:pPr marL="781050" lvl="1" indent="-457200" algn="l">
              <a:lnSpc>
                <a:spcPts val="678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</a:t>
            </a:r>
          </a:p>
          <a:p>
            <a:pPr marL="323850" lvl="1" algn="l">
              <a:lnSpc>
                <a:spcPts val="678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Atkinson Hyperlegible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5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97598" y="-195894"/>
            <a:ext cx="16479033" cy="2027337"/>
            <a:chOff x="-229644" y="0"/>
            <a:chExt cx="21972044" cy="2703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29644" y="1825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CONTENTS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1100" y="2805677"/>
            <a:ext cx="16625348" cy="5429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105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
Advantages 
Applications
 Publications</a:t>
            </a:r>
          </a:p>
          <a:p>
            <a:pPr marL="78105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23850" lvl="1" algn="l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Atkinson Hyperlegible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95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219200" y="-190500"/>
            <a:ext cx="16306800" cy="2011680"/>
            <a:chOff x="0" y="0"/>
            <a:chExt cx="2174240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742400" cy="27012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INTRODUCTION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19FFA74F-A628-A6E1-D2B6-C5C290894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291305"/>
            <a:ext cx="16330962" cy="7368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AI-based voice synthesis technologies.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can closely mimic real human speech.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distinguish fake audio manually.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serious threats in digital communication.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fraud,Scam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misinformation attacks.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trust in media and communication systems.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automated and intelligent detection methods.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plays a key role in solving this problem.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66800" y="-384810"/>
            <a:ext cx="16459200" cy="2251710"/>
            <a:chOff x="0" y="0"/>
            <a:chExt cx="21945600" cy="30022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200" y="300989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PROBLEM STATEMENT</a:t>
              </a:r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CD354A93-00E9-63F3-2EAA-756D8845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291305"/>
            <a:ext cx="17439389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 audio is highly realistic and difficult to distinguish from real speech.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is unreliable and time-consuming.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fail to detect unseen deepfake audio samples.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advancements increase risks of fraud, impersonation, and misinformation.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accurate and real-time deepfake audio detection.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90600" y="-238340"/>
            <a:ext cx="16516636" cy="2105240"/>
            <a:chOff x="-279781" y="-19050"/>
            <a:chExt cx="22022181" cy="2806986"/>
          </a:xfrm>
        </p:grpSpPr>
        <p:sp>
          <p:nvSpPr>
            <p:cNvPr id="10" name="Freeform 10"/>
            <p:cNvSpPr/>
            <p:nvPr/>
          </p:nvSpPr>
          <p:spPr>
            <a:xfrm>
              <a:off x="-279781" y="105696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742400" cy="270129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ct val="150000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OBJECTIVE</a:t>
              </a:r>
              <a:endParaRPr lang="en-US" dirty="0"/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AC190810-E403-F0F5-CBBB-9439D3F89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752970"/>
            <a:ext cx="15544800" cy="6445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whether audio is real or fake accurately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model performance and detection accuracy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system with low computational complexity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real-time audio analysis and prediction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deep learning models for better feature learning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and interactive user interface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security in digital communication systems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81100" y="807335"/>
            <a:ext cx="13478835" cy="1047699"/>
            <a:chOff x="0" y="-19050"/>
            <a:chExt cx="17971780" cy="1396932"/>
          </a:xfrm>
        </p:grpSpPr>
        <p:sp>
          <p:nvSpPr>
            <p:cNvPr id="10" name="Freeform 10"/>
            <p:cNvSpPr/>
            <p:nvPr/>
          </p:nvSpPr>
          <p:spPr>
            <a:xfrm>
              <a:off x="7995932" y="79703"/>
              <a:ext cx="9975848" cy="1298179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617200" cy="131722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1: </a:t>
              </a:r>
              <a:r>
                <a:rPr lang="en-GB" altLang="en-US" sz="4800" b="1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AUDIO INPUT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315EF42-E29E-4590-10FD-AFB6B1FB006C}"/>
              </a:ext>
            </a:extLst>
          </p:cNvPr>
          <p:cNvSpPr txBox="1"/>
          <p:nvPr/>
        </p:nvSpPr>
        <p:spPr>
          <a:xfrm>
            <a:off x="1066800" y="2835176"/>
            <a:ext cx="163830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the user to upload an audio file through a web-based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supports multiple audio formats such as WAV, MP3, OGG, FLAC, and M4A.Once uploaded, the audio is read and converted into a numerical format suitable for further processing by the deep learning model..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(Web Interface)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237541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/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5033" y="117774"/>
              <a:ext cx="155956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IN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2: AUDIO PRE-PROCESSING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81100" y="2209226"/>
            <a:ext cx="15980114" cy="703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uploaded audio is pre-processed to ensure uniformity and noise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robustness.The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signal is resampled to a fixed sampling rate (e.g., 16 kHz) to maintain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consistency.Optional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noise reduction and normalization are applied to improve audio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quality.The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is trimmed or padded to a fixed length to ensure uniform input size for the model.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NumPy are used to handle and process the audio signal efficiently.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audio signal-processing algorithms such as resampling, noise reduction, normalization, and trimming/padding are applied to make the audio uniform and suitable for feature extraction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F12-0F5A-CCD3-F734-023AA4DA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44BFE4-EE48-2F35-C32A-C7BCD4DD0A98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9D269AC-D527-BD63-99A3-E44D223F81A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8E49253-A8E7-A3A2-CBC0-568716EBB60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5A16DD-533D-B7CB-B8A1-08C7EBC381E1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401C009-DB91-44D8-1F78-111B13CFEF7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34D0277-217A-903D-0580-81BD9F7DA5A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47D149D-688E-BC16-D28D-91BA1AEAE0D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5267C8B-15F0-D76E-0615-85A6E0940EA1}"/>
              </a:ext>
            </a:extLst>
          </p:cNvPr>
          <p:cNvGrpSpPr/>
          <p:nvPr/>
        </p:nvGrpSpPr>
        <p:grpSpPr>
          <a:xfrm>
            <a:off x="1181100" y="616572"/>
            <a:ext cx="14993059" cy="1181154"/>
            <a:chOff x="545033" y="-139869"/>
            <a:chExt cx="19990745" cy="15748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0A9D8D-3771-54E5-9D41-0C70FF43BB88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BE40790-E9CB-FDBE-6D39-E2F7460B8EE8}"/>
                </a:ext>
              </a:extLst>
            </p:cNvPr>
            <p:cNvSpPr txBox="1"/>
            <p:nvPr/>
          </p:nvSpPr>
          <p:spPr>
            <a:xfrm>
              <a:off x="545033" y="117774"/>
              <a:ext cx="148844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IN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3: FEATURE EXTRACTION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99E724F-ADCD-7F5B-7285-1A0AAB720534}"/>
              </a:ext>
            </a:extLst>
          </p:cNvPr>
          <p:cNvSpPr txBox="1"/>
          <p:nvPr/>
        </p:nvSpPr>
        <p:spPr>
          <a:xfrm>
            <a:off x="1181100" y="2209226"/>
            <a:ext cx="15980114" cy="7309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Mel Frequency Cepstral Coefficients (MFCC) are extracted from the pre-processed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audio.MFCC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effectively capture the spectral and perceptual characteristics of human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speech.The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 MFCC features are reshaped into a suitable format to serve as input for the CNN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Python with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NumPy is used to extract and manage speech features from the pre-processed audio.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MFCC (Mel Frequency Cepstral Coefficient) algorithm is applied to extract spectral features that represent important characteristics of human speech for deepfake detection.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08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1319-C2A6-A2AF-AD7A-C8D36D45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120CAC-F365-3324-E2B3-01635DAD7DD2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43297B7-4939-D06B-D38C-800B35D9FB8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6E389DD-4BDC-43D4-D215-8526D915811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4339DAD-3F0D-84A6-8820-0CF057AD40F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4282FF7-EDC3-1337-46C5-FE8439E5CEE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45B78EF-CDC2-6F4C-92EE-531599868A38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04F3DB5-42AD-2699-9EA4-5214CB52AA00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9A088C1-AA7C-19E2-699B-FB2F7A68FE68}"/>
              </a:ext>
            </a:extLst>
          </p:cNvPr>
          <p:cNvGrpSpPr/>
          <p:nvPr/>
        </p:nvGrpSpPr>
        <p:grpSpPr>
          <a:xfrm>
            <a:off x="1257300" y="616572"/>
            <a:ext cx="16421100" cy="1102765"/>
            <a:chOff x="392633" y="-139869"/>
            <a:chExt cx="21894800" cy="14703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C00F48B-8F9A-F206-CCD2-DD6065737CBC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EBB44D1-A6A1-3DC1-E37C-41FDB2482A0B}"/>
                </a:ext>
              </a:extLst>
            </p:cNvPr>
            <p:cNvSpPr txBox="1"/>
            <p:nvPr/>
          </p:nvSpPr>
          <p:spPr>
            <a:xfrm>
              <a:off x="392633" y="13255"/>
              <a:ext cx="218948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 4: DEEP LEARNING MODEL PREDICTION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D2AA981-3FAF-3A70-D389-12FC36ED6C21}"/>
              </a:ext>
            </a:extLst>
          </p:cNvPr>
          <p:cNvSpPr txBox="1"/>
          <p:nvPr/>
        </p:nvSpPr>
        <p:spPr>
          <a:xfrm>
            <a:off x="1066800" y="2920071"/>
            <a:ext cx="17106900" cy="4446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detects deepfake audio using a CNN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CNN extracts important features from audio, while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speech patterns over time. The system then predicts whether the audio is real or fake.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TensorFlow/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build the model,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show the results.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is used for feature extraction,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analyze and classify the audio as real or deepfake.</a:t>
            </a:r>
          </a:p>
        </p:txBody>
      </p:sp>
    </p:spTree>
    <p:extLst>
      <p:ext uri="{BB962C8B-B14F-4D97-AF65-F5344CB8AC3E}">
        <p14:creationId xmlns:p14="http://schemas.microsoft.com/office/powerpoint/2010/main" val="126750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204913" y="802779"/>
            <a:ext cx="7481887" cy="987921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>
              <a:lnSpc>
                <a:spcPts val="5759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MODELS</a:t>
            </a:r>
            <a:endParaRPr lang="en-US" sz="4800" b="1" dirty="0">
              <a:solidFill>
                <a:srgbClr val="464646"/>
              </a:solidFill>
              <a:latin typeface="Times New Roman"/>
              <a:ea typeface="Arimo Bold"/>
              <a:cs typeface="Times New Roman"/>
              <a:sym typeface="Arimo Bold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8B31CFE-219C-323D-6F3A-5565C5A9E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16001"/>
            <a:ext cx="17106900" cy="7368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users to upload and process audio files easily through a web interface.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standardize and clean audio data for accurate and consistent model input.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meaningful features (MFCC) that represent speech characteristics effectively.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both spatial and temporal patterns in audio using deep learning models.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classify audio as real or deepfake in a fast and efficient manner.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219200" y="878978"/>
            <a:ext cx="9334500" cy="987922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>
              <a:lnSpc>
                <a:spcPts val="5759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800" b="1" dirty="0">
              <a:solidFill>
                <a:srgbClr val="464646"/>
              </a:solidFill>
              <a:latin typeface="Times New Roman"/>
              <a:ea typeface="Arimo Bold"/>
              <a:cs typeface="Times New Roman"/>
              <a:sym typeface="Arimo Bold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B6654EA-FE57-8188-A111-AF2D01014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656940"/>
            <a:ext cx="16099279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is uploaded by the user through a web-based interface.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audio is pre-processed (resampling, noise removal, normalization).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MFCC features are extracted to represent speech characteristics.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and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analyze spatial and temporal patterns.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the audio as real or deepfake and displays the result.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F12-0F5A-CCD3-F734-023AA4DA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44BFE4-EE48-2F35-C32A-C7BCD4DD0A98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9D269AC-D527-BD63-99A3-E44D223F81A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8E49253-A8E7-A3A2-CBC0-568716EBB60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5A16DD-533D-B7CB-B8A1-08C7EBC381E1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401C009-DB91-44D8-1F78-111B13CFEF7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34D0277-217A-903D-0580-81BD9F7DA5A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47D149D-688E-BC16-D28D-91BA1AEAE0D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BE40790-E9CB-FDBE-6D39-E2F7460B8EE8}"/>
              </a:ext>
            </a:extLst>
          </p:cNvPr>
          <p:cNvSpPr txBox="1"/>
          <p:nvPr/>
        </p:nvSpPr>
        <p:spPr>
          <a:xfrm>
            <a:off x="1230143" y="342900"/>
            <a:ext cx="9361657" cy="1454826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>
              <a:lnSpc>
                <a:spcPts val="5759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US" sz="4800" b="1" dirty="0">
              <a:solidFill>
                <a:srgbClr val="464646"/>
              </a:solidFill>
              <a:latin typeface="Times New Roman"/>
              <a:ea typeface="Arimo Bold"/>
              <a:cs typeface="Times New Roman"/>
              <a:sym typeface="Arimo Bold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19F3314-7E52-0112-7216-C56325E43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279" y="1502635"/>
            <a:ext cx="16067219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MFCC is used to extract important features from the audio signal.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is used to learn spatial patterns from the extracted features.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is used to model time-based speech sequences.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capture both forward and backward temporal patterns.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Sigmoid/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 is used to classify audio as real or deepfake. </a:t>
            </a:r>
          </a:p>
        </p:txBody>
      </p:sp>
    </p:spTree>
    <p:extLst>
      <p:ext uri="{BB962C8B-B14F-4D97-AF65-F5344CB8AC3E}">
        <p14:creationId xmlns:p14="http://schemas.microsoft.com/office/powerpoint/2010/main" val="3240384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1319-C2A6-A2AF-AD7A-C8D36D45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120CAC-F365-3324-E2B3-01635DAD7DD2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43297B7-4939-D06B-D38C-800B35D9FB8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6E389DD-4BDC-43D4-D215-8526D915811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4339DAD-3F0D-84A6-8820-0CF057AD40F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4282FF7-EDC3-1337-46C5-FE8439E5CEE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45B78EF-CDC2-6F4C-92EE-531599868A38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04F3DB5-42AD-2699-9EA4-5214CB52AA00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9A088C1-AA7C-19E2-699B-FB2F7A68FE68}"/>
              </a:ext>
            </a:extLst>
          </p:cNvPr>
          <p:cNvGrpSpPr/>
          <p:nvPr/>
        </p:nvGrpSpPr>
        <p:grpSpPr>
          <a:xfrm>
            <a:off x="1219200" y="764135"/>
            <a:ext cx="16421100" cy="1102765"/>
            <a:chOff x="392633" y="-139869"/>
            <a:chExt cx="21894800" cy="14703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C00F48B-8F9A-F206-CCD2-DD6065737CBC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EBB44D1-A6A1-3DC1-E37C-41FDB2482A0B}"/>
                </a:ext>
              </a:extLst>
            </p:cNvPr>
            <p:cNvSpPr txBox="1"/>
            <p:nvPr/>
          </p:nvSpPr>
          <p:spPr>
            <a:xfrm>
              <a:off x="392633" y="13255"/>
              <a:ext cx="218948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 MODEL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CCEF4A92-34E7-3794-D38B-3642AEE6D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90557"/>
            <a:ext cx="17602200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combination: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short-term and long-term features into one representation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Ft​=St​∥Lt​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 function: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captures temporal dependencies from the combined features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​=LSTM(Ft​,ht−1​)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merges forward and backward sequence learning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​=hf​∥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en-IN" sz="4000" dirty="0"/>
              <a:t>​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formula: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gives the final probability (real or fake)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σ(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WH+b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61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143000" y="-122116"/>
            <a:ext cx="16334241" cy="2217616"/>
            <a:chOff x="-36588" y="-274582"/>
            <a:chExt cx="21778988" cy="29568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42400" cy="2682240"/>
            </a:xfrm>
            <a:custGeom>
              <a:avLst/>
              <a:gdLst/>
              <a:ahLst/>
              <a:cxnLst/>
              <a:rect l="l" t="t" r="r" b="b"/>
              <a:pathLst>
                <a:path w="21742400" h="2682240">
                  <a:moveTo>
                    <a:pt x="0" y="0"/>
                  </a:moveTo>
                  <a:lnTo>
                    <a:pt x="21742400" y="0"/>
                  </a:lnTo>
                  <a:lnTo>
                    <a:pt x="217424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36588" y="-274582"/>
              <a:ext cx="21742400" cy="27012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TECHNIQUES USED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FBB9F28-9706-E307-F3AC-BA06B100C6A7}"/>
              </a:ext>
            </a:extLst>
          </p:cNvPr>
          <p:cNvSpPr txBox="1"/>
          <p:nvPr/>
        </p:nvSpPr>
        <p:spPr>
          <a:xfrm>
            <a:off x="1194841" y="2857500"/>
            <a:ext cx="11706094" cy="367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learning for feature representation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sequence modeling for speech analysis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signal processing techniques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classification methods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F74057-A60A-36B1-02B6-6F218F728312}"/>
              </a:ext>
            </a:extLst>
          </p:cNvPr>
          <p:cNvSpPr txBox="1"/>
          <p:nvPr/>
        </p:nvSpPr>
        <p:spPr>
          <a:xfrm>
            <a:off x="12192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AE34D3-06D7-1BE8-3CBB-38E50A3680A9}"/>
              </a:ext>
            </a:extLst>
          </p:cNvPr>
          <p:cNvSpPr txBox="1"/>
          <p:nvPr/>
        </p:nvSpPr>
        <p:spPr>
          <a:xfrm>
            <a:off x="1066800" y="2728956"/>
            <a:ext cx="12767327" cy="367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audio file through web interface</a:t>
            </a:r>
          </a:p>
          <a:p>
            <a:pPr marL="571500" indent="-5715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preprocesses and extracts features</a:t>
            </a:r>
          </a:p>
          <a:p>
            <a:pPr marL="571500" indent="-5715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analyzes temporal speech patterns</a:t>
            </a:r>
          </a:p>
          <a:p>
            <a:pPr marL="571500" indent="-5715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displayed as real or fake audio</a:t>
            </a:r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EFFFB366-2464-306B-1248-371456BED379}"/>
              </a:ext>
            </a:extLst>
          </p:cNvPr>
          <p:cNvSpPr/>
          <p:nvPr/>
        </p:nvSpPr>
        <p:spPr>
          <a:xfrm>
            <a:off x="1290703" y="-27837"/>
            <a:ext cx="16306800" cy="2011680"/>
          </a:xfrm>
          <a:custGeom>
            <a:avLst/>
            <a:gdLst/>
            <a:ahLst/>
            <a:cxnLst/>
            <a:rect l="l" t="t" r="r" b="b"/>
            <a:pathLst>
              <a:path w="21742400" h="2682240">
                <a:moveTo>
                  <a:pt x="0" y="0"/>
                </a:moveTo>
                <a:lnTo>
                  <a:pt x="21742400" y="0"/>
                </a:lnTo>
                <a:lnTo>
                  <a:pt x="21742400" y="2682240"/>
                </a:lnTo>
                <a:lnTo>
                  <a:pt x="0" y="268224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508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ACE6B8-78BA-F485-4811-C4B41AE33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47" y="1389323"/>
            <a:ext cx="15016706" cy="750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60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F74057-A60A-36B1-02B6-6F218F728312}"/>
              </a:ext>
            </a:extLst>
          </p:cNvPr>
          <p:cNvSpPr txBox="1"/>
          <p:nvPr/>
        </p:nvSpPr>
        <p:spPr>
          <a:xfrm>
            <a:off x="11811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>
              <a:lnSpc>
                <a:spcPts val="5759"/>
              </a:lnSpc>
            </a:pPr>
            <a:r>
              <a: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rPr>
              <a:t>ARCHITECTURAL FRAMEWORK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AE34D3-06D7-1BE8-3CBB-38E50A3680A9}"/>
              </a:ext>
            </a:extLst>
          </p:cNvPr>
          <p:cNvSpPr txBox="1"/>
          <p:nvPr/>
        </p:nvSpPr>
        <p:spPr>
          <a:xfrm>
            <a:off x="1181100" y="2462755"/>
            <a:ext cx="9144000" cy="367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audio file from user interface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normalization stage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embeddings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processing using LSTM/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3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49C-2E71-B0D6-1FBF-BF83983E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04C544-A58F-65DD-06CA-1D6C73206670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B613297-C6F7-F170-5E8E-8A20A6489D5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587E32D-34CE-A085-1ED4-8CA36BE73C6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8BAF1E2-B601-9A12-5EE1-D16C7C0C1E2D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61CF0496-7DC5-634C-0A72-0291EFFF1692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D38EEBE-8DC8-126C-3C0F-000DF6879937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019EFAE-B08E-A631-5B60-63F0C9504DAC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16FBAC2-B4F8-3DB9-246D-FBA0B3FD648B}"/>
              </a:ext>
            </a:extLst>
          </p:cNvPr>
          <p:cNvGrpSpPr/>
          <p:nvPr/>
        </p:nvGrpSpPr>
        <p:grpSpPr>
          <a:xfrm>
            <a:off x="1104900" y="800100"/>
            <a:ext cx="16421100" cy="1102765"/>
            <a:chOff x="392633" y="-139869"/>
            <a:chExt cx="21894800" cy="147035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093C12D-15E3-A6A9-B349-A6818D3AB57D}"/>
                </a:ext>
              </a:extLst>
            </p:cNvPr>
            <p:cNvSpPr/>
            <p:nvPr/>
          </p:nvSpPr>
          <p:spPr>
            <a:xfrm>
              <a:off x="10559930" y="-139869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98473F7-48C7-63C1-F7EB-7819672891C0}"/>
                </a:ext>
              </a:extLst>
            </p:cNvPr>
            <p:cNvSpPr txBox="1"/>
            <p:nvPr/>
          </p:nvSpPr>
          <p:spPr>
            <a:xfrm>
              <a:off x="392633" y="13255"/>
              <a:ext cx="21894800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ARCHITECTURE DIAGRAM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54AF423-3EF3-08AF-04E1-82D8B96DF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773" y="3233108"/>
            <a:ext cx="6248399" cy="49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8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F74057-A60A-36B1-02B6-6F218F728312}"/>
              </a:ext>
            </a:extLst>
          </p:cNvPr>
          <p:cNvSpPr txBox="1"/>
          <p:nvPr/>
        </p:nvSpPr>
        <p:spPr>
          <a:xfrm>
            <a:off x="12192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96B06B6-8984-5A8C-FB60-9F2424ED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65775"/>
            <a:ext cx="15099005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spectrogram-based features with CNN models for detection.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comparatively lower accuracy (around 88%).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 computational power and processing time.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Struggles to generalize on unseen or new deepfake audio samples.</a:t>
            </a:r>
          </a:p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heavily on specific datasets, reducing real-world performance.</a:t>
            </a: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913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F74057-A60A-36B1-02B6-6F218F728312}"/>
              </a:ext>
            </a:extLst>
          </p:cNvPr>
          <p:cNvSpPr txBox="1"/>
          <p:nvPr/>
        </p:nvSpPr>
        <p:spPr>
          <a:xfrm>
            <a:off x="12192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82505D6-217A-5539-BB0B-608C989B2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441" y="1615436"/>
            <a:ext cx="17333104" cy="6445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feature extraction (embeddings/MFCC) with a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model.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higher accuracy (around 95%) compared to existing methods.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better generalization to unseen deepfake audio samples.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robust against variations in speech and recording conditions.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and faster processing suitable for real-time detection. </a:t>
            </a:r>
          </a:p>
        </p:txBody>
      </p:sp>
    </p:spTree>
    <p:extLst>
      <p:ext uri="{BB962C8B-B14F-4D97-AF65-F5344CB8AC3E}">
        <p14:creationId xmlns:p14="http://schemas.microsoft.com/office/powerpoint/2010/main" val="4263590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10438" y="876300"/>
            <a:ext cx="7776362" cy="987922"/>
            <a:chOff x="0" y="-19051"/>
            <a:chExt cx="10368482" cy="13172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2633" y="-19051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E97865B9-171E-4954-6887-FDE4C0A51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923297"/>
            <a:ext cx="10363200" cy="51158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40B5C7-540E-87C2-A3D4-936916657A8D}"/>
              </a:ext>
            </a:extLst>
          </p:cNvPr>
          <p:cNvSpPr txBox="1"/>
          <p:nvPr/>
        </p:nvSpPr>
        <p:spPr>
          <a:xfrm>
            <a:off x="7242648" y="8475755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CC12-A445-34FA-C807-DA29C8F1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EDC5D9-9733-67B2-B578-C8D3A1F86C80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9F17A1B-8D59-C453-E3F0-DDE90F1C1D1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12562DA-7B9F-3C9F-F5A6-9956CBA2702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558BC05-1938-5486-7BA5-CFD2A66D41A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32140310-B68A-8F05-4243-E27FA35A55F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C22574CB-3B05-2F47-C652-A29BCB7BB850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BE91080-BC82-750F-F7A7-BCAC271132B8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D3A75EC-B37A-6023-A078-4DAD6526C4F6}"/>
              </a:ext>
            </a:extLst>
          </p:cNvPr>
          <p:cNvGrpSpPr/>
          <p:nvPr/>
        </p:nvGrpSpPr>
        <p:grpSpPr>
          <a:xfrm>
            <a:off x="818310" y="952500"/>
            <a:ext cx="7868490" cy="973634"/>
            <a:chOff x="0" y="0"/>
            <a:chExt cx="10491320" cy="129817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231EC34-A723-0A1E-FE8F-5CD67CD755C6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56FCCE-FEC6-B63B-F906-798E10A13A01}"/>
                </a:ext>
              </a:extLst>
            </p:cNvPr>
            <p:cNvSpPr txBox="1"/>
            <p:nvPr/>
          </p:nvSpPr>
          <p:spPr>
            <a:xfrm>
              <a:off x="515471" y="160244"/>
              <a:ext cx="9975849" cy="113793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5120C6A-C7FC-6284-2C50-F3A44B1C23F3}"/>
              </a:ext>
            </a:extLst>
          </p:cNvPr>
          <p:cNvSpPr txBox="1"/>
          <p:nvPr/>
        </p:nvSpPr>
        <p:spPr>
          <a:xfrm>
            <a:off x="4191000" y="8737457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47C519-C4CC-78CE-8B2D-026A2A2D8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409977"/>
            <a:ext cx="12344400" cy="598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09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FAE-AD6D-1A1B-8415-FE64C88C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827D7-5F4B-2476-AB79-214046987E73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A252832-991A-0852-E936-69FEC085295C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D0A7D34-21B0-D2A5-D592-3E734DD80B81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9B6A80B-F3C5-EC98-52C3-C28485A7C36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1F7AAAE-FCF3-3D6D-450C-1E0FD208079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ABE4F57-B041-8664-1002-C5E0953A43CD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B6EA79-A7A5-DE0B-D950-6E426667DED3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E6B8C97-7EE8-4CFD-3FD5-8B207205951C}"/>
              </a:ext>
            </a:extLst>
          </p:cNvPr>
          <p:cNvGrpSpPr/>
          <p:nvPr/>
        </p:nvGrpSpPr>
        <p:grpSpPr>
          <a:xfrm>
            <a:off x="910438" y="876300"/>
            <a:ext cx="7776362" cy="1006985"/>
            <a:chOff x="0" y="-44469"/>
            <a:chExt cx="10368482" cy="134264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45C33F-4268-CB88-2037-7DDCC3F5DEC8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76621C-A5CA-81D0-D317-8D7A9920E24B}"/>
                </a:ext>
              </a:extLst>
            </p:cNvPr>
            <p:cNvSpPr txBox="1"/>
            <p:nvPr/>
          </p:nvSpPr>
          <p:spPr>
            <a:xfrm>
              <a:off x="392633" y="-44469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D103747-F2F6-C197-F2B6-2977AE000AC4}"/>
              </a:ext>
            </a:extLst>
          </p:cNvPr>
          <p:cNvSpPr txBox="1"/>
          <p:nvPr/>
        </p:nvSpPr>
        <p:spPr>
          <a:xfrm>
            <a:off x="7394200" y="8884023"/>
            <a:ext cx="349959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Audio</a:t>
            </a:r>
            <a:endParaRPr lang="en-US" sz="40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D00C123F-8362-DABF-92C8-8447D7CB5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578815"/>
            <a:ext cx="11277599" cy="61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87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FAE-AD6D-1A1B-8415-FE64C88C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827D7-5F4B-2476-AB79-214046987E73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A252832-991A-0852-E936-69FEC085295C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DD0A7D34-21B0-D2A5-D592-3E734DD80B81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9B6A80B-F3C5-EC98-52C3-C28485A7C36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1F7AAAE-FCF3-3D6D-450C-1E0FD208079E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ABE4F57-B041-8664-1002-C5E0953A43CD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9AB6EA79-A7A5-DE0B-D950-6E426667DED3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E6B8C97-7EE8-4CFD-3FD5-8B207205951C}"/>
              </a:ext>
            </a:extLst>
          </p:cNvPr>
          <p:cNvGrpSpPr/>
          <p:nvPr/>
        </p:nvGrpSpPr>
        <p:grpSpPr>
          <a:xfrm>
            <a:off x="796138" y="876300"/>
            <a:ext cx="7890662" cy="1021258"/>
            <a:chOff x="0" y="-63499"/>
            <a:chExt cx="10520882" cy="13616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745C33F-4268-CB88-2037-7DDCC3F5DEC8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76621C-A5CA-81D0-D317-8D7A9920E24B}"/>
                </a:ext>
              </a:extLst>
            </p:cNvPr>
            <p:cNvSpPr txBox="1"/>
            <p:nvPr/>
          </p:nvSpPr>
          <p:spPr>
            <a:xfrm>
              <a:off x="545033" y="-63499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D103747-F2F6-C197-F2B6-2977AE000AC4}"/>
              </a:ext>
            </a:extLst>
          </p:cNvPr>
          <p:cNvSpPr txBox="1"/>
          <p:nvPr/>
        </p:nvSpPr>
        <p:spPr>
          <a:xfrm>
            <a:off x="7730043" y="8271568"/>
            <a:ext cx="35302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Audio</a:t>
            </a:r>
            <a:endParaRPr lang="en-US" sz="40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256DC213-EF42-E592-171D-18E45238E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823794"/>
            <a:ext cx="10491222" cy="513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92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E88FA-D213-BA6E-D5F2-C1D1BD1E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927C70-0E66-A33E-DC82-1F44BFF441D4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C9D8C80-3908-CF81-84DE-FF7992D6D746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4C57CD9F-F77D-E663-2212-0B2E28BA6EC6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94EF60FB-5151-0C25-EC31-36644E5ACAE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5EFEC5A4-6CD3-0A6F-0189-63C18ACA5E1D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702F4AD-3F6A-E658-9A33-0D250097E36A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0386422-3918-8866-CF77-4F83675BF3BA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544F607-2C61-1E1B-86C6-D3911484E652}"/>
              </a:ext>
            </a:extLst>
          </p:cNvPr>
          <p:cNvGrpSpPr/>
          <p:nvPr/>
        </p:nvGrpSpPr>
        <p:grpSpPr>
          <a:xfrm>
            <a:off x="796138" y="876300"/>
            <a:ext cx="7890662" cy="1021258"/>
            <a:chOff x="0" y="-63499"/>
            <a:chExt cx="10520882" cy="13616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99AED1B-61F6-A866-FFA4-DBFF7E2F1DE5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90D4C24-CBA5-1CE5-5724-1DD562943D67}"/>
                </a:ext>
              </a:extLst>
            </p:cNvPr>
            <p:cNvSpPr txBox="1"/>
            <p:nvPr/>
          </p:nvSpPr>
          <p:spPr>
            <a:xfrm>
              <a:off x="545033" y="-63499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5A593F0-B3CC-4C68-ECF6-D7474D7D7527}"/>
              </a:ext>
            </a:extLst>
          </p:cNvPr>
          <p:cNvSpPr txBox="1"/>
          <p:nvPr/>
        </p:nvSpPr>
        <p:spPr>
          <a:xfrm>
            <a:off x="6608221" y="8645821"/>
            <a:ext cx="41571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/>
                <a:ea typeface="Calibri"/>
                <a:cs typeface="Calibri"/>
              </a:rPr>
              <a:t>Audio Waveform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2FEF64-EE76-7A78-C0E4-1C42B5DCED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162301"/>
            <a:ext cx="10058400" cy="485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02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ADBD6-DC85-D138-DF8C-563F6491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C91D6E-DFF5-E33A-55B3-16AD451B0A56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3428825-C8BD-E38B-1BFC-0CBCCB1A3250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A6B9BDA6-49DD-5419-8952-22F7991DF052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DB69D50-8567-0B25-62DD-5CD4AF2BB5C6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7AECB5F9-3C83-4E5B-4F5E-C7ACCC48490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1FC1F8E-B70D-72E0-2D89-9DD477FD27B0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0B66735-8A7B-C2F4-D948-A0CE9A8F5FB6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B4CA697-665F-A695-7CBB-E46448AF081D}"/>
              </a:ext>
            </a:extLst>
          </p:cNvPr>
          <p:cNvGrpSpPr/>
          <p:nvPr/>
        </p:nvGrpSpPr>
        <p:grpSpPr>
          <a:xfrm>
            <a:off x="796138" y="876300"/>
            <a:ext cx="7890662" cy="1021258"/>
            <a:chOff x="0" y="-63499"/>
            <a:chExt cx="10520882" cy="13616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60F4E04-DC11-0E72-A8A6-9AC34F35969A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80F0633-E736-318A-EDFD-B0AC3A2191BB}"/>
                </a:ext>
              </a:extLst>
            </p:cNvPr>
            <p:cNvSpPr txBox="1"/>
            <p:nvPr/>
          </p:nvSpPr>
          <p:spPr>
            <a:xfrm>
              <a:off x="545033" y="-63499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8FA904C-09D7-01A3-CEEB-3B5AD03FD11D}"/>
              </a:ext>
            </a:extLst>
          </p:cNvPr>
          <p:cNvSpPr txBox="1"/>
          <p:nvPr/>
        </p:nvSpPr>
        <p:spPr>
          <a:xfrm>
            <a:off x="5725324" y="8702814"/>
            <a:ext cx="51054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/>
                <a:ea typeface="Calibri"/>
                <a:cs typeface="Calibri"/>
              </a:rPr>
              <a:t>Spectrogram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D861BD-4E20-B898-BC09-30C84239C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924" y="3215640"/>
            <a:ext cx="9982200" cy="505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08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7AD0-0C39-6C58-D8BA-1CF0D9E2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9BFF3E-55D4-6FC5-73ED-8B4EF2A711F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66F4784-E0A7-16EC-802B-4FC2C04DA0E7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8B594582-54C3-04DA-7E18-05483BB31220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C9FB902-CAF6-55B8-27F8-F5C4A9956E1A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F266DB3-F4BA-A944-016B-7A4D0579D926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5B88E2F-FC6A-210A-1F35-3A0A73BD7B64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1619DC9-9618-9ED9-9BEB-5C3345F1F799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E9E1CA4-4158-CFE7-BC1F-1448200D7BE2}"/>
              </a:ext>
            </a:extLst>
          </p:cNvPr>
          <p:cNvGrpSpPr/>
          <p:nvPr/>
        </p:nvGrpSpPr>
        <p:grpSpPr>
          <a:xfrm>
            <a:off x="796138" y="876300"/>
            <a:ext cx="7890662" cy="1021258"/>
            <a:chOff x="0" y="-63499"/>
            <a:chExt cx="10520882" cy="136167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F5E12A4-A240-D077-643F-14BA8BC81007}"/>
                </a:ext>
              </a:extLst>
            </p:cNvPr>
            <p:cNvSpPr/>
            <p:nvPr/>
          </p:nvSpPr>
          <p:spPr>
            <a:xfrm>
              <a:off x="0" y="0"/>
              <a:ext cx="9975848" cy="1298178"/>
            </a:xfrm>
            <a:custGeom>
              <a:avLst/>
              <a:gdLst/>
              <a:ahLst/>
              <a:cxnLst/>
              <a:rect l="l" t="t" r="r" b="b"/>
              <a:pathLst>
                <a:path w="9975848" h="1298178">
                  <a:moveTo>
                    <a:pt x="0" y="0"/>
                  </a:moveTo>
                  <a:lnTo>
                    <a:pt x="9975848" y="0"/>
                  </a:lnTo>
                  <a:lnTo>
                    <a:pt x="9975848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D713250-A7C5-AB98-5B16-0F2BC67C388B}"/>
                </a:ext>
              </a:extLst>
            </p:cNvPr>
            <p:cNvSpPr txBox="1"/>
            <p:nvPr/>
          </p:nvSpPr>
          <p:spPr>
            <a:xfrm>
              <a:off x="545033" y="-63499"/>
              <a:ext cx="997584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SCREENSHOT 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70C31C9-59A9-F4FB-4D5E-769D53FC1976}"/>
              </a:ext>
            </a:extLst>
          </p:cNvPr>
          <p:cNvSpPr txBox="1"/>
          <p:nvPr/>
        </p:nvSpPr>
        <p:spPr>
          <a:xfrm>
            <a:off x="6705600" y="8784365"/>
            <a:ext cx="35302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/>
                <a:ea typeface="Calibri"/>
                <a:cs typeface="Calibri"/>
              </a:rPr>
              <a:t>MFCC Features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26EAF6-8242-64B6-F7DF-0C972C167B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272789"/>
            <a:ext cx="9906000" cy="520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25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F74057-A60A-36B1-02B6-6F218F728312}"/>
              </a:ext>
            </a:extLst>
          </p:cNvPr>
          <p:cNvSpPr txBox="1"/>
          <p:nvPr/>
        </p:nvSpPr>
        <p:spPr>
          <a:xfrm>
            <a:off x="12192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D95DC84-31A1-D74B-E6AE-C4339969C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282" y="1502635"/>
            <a:ext cx="12534201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 detecting deepfake audio.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efficiently in real-time applications.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 with low computational cost.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Easy-to-use web-based interface for users.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and fast audio authenticity verification. </a:t>
            </a:r>
          </a:p>
        </p:txBody>
      </p:sp>
    </p:spTree>
    <p:extLst>
      <p:ext uri="{BB962C8B-B14F-4D97-AF65-F5344CB8AC3E}">
        <p14:creationId xmlns:p14="http://schemas.microsoft.com/office/powerpoint/2010/main" val="1970797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CB0-20BB-D83A-4136-4D048947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EB6004-489B-847F-A49A-131D18448B6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917EE30-B858-C841-32A6-215A83B2D09D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44C207D-07B8-5A93-F030-704E42B1AC1F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5CDA7515-DA10-4F1C-E68B-D898840F4FF5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5383876-9E9A-5B1D-164C-55B0334D9695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10C680AF-BCB8-1174-E765-B28A4CF9D50C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ADB242D-D4C1-EA93-D6A1-5A8EB13F28FB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F74057-A60A-36B1-02B6-6F218F728312}"/>
              </a:ext>
            </a:extLst>
          </p:cNvPr>
          <p:cNvSpPr txBox="1"/>
          <p:nvPr/>
        </p:nvSpPr>
        <p:spPr>
          <a:xfrm>
            <a:off x="12192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586DC92-8F3E-D27F-8AC6-128E55A7D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81989"/>
            <a:ext cx="15898904" cy="552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and fraud prevention systems to detect voice-based scams.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verification and authentication to ensure content credibility.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 investigations for analyzing manipulated audio evidence.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authentication systems to prevent spoofing attacks.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monitoring to identify and control misinformation. </a:t>
            </a:r>
          </a:p>
        </p:txBody>
      </p:sp>
    </p:spTree>
    <p:extLst>
      <p:ext uri="{BB962C8B-B14F-4D97-AF65-F5344CB8AC3E}">
        <p14:creationId xmlns:p14="http://schemas.microsoft.com/office/powerpoint/2010/main" val="4014773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6213-57F6-2B52-848A-B84ABC8A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D7861F-4992-22B7-93FB-A909A069065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3469A6F-6E53-3D8F-78F1-6E5362533A17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2F76875B-9B8F-4DB0-D52B-478557A104E8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BF8E91D-6ADF-D0ED-75FF-F3759B0528CF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33A2202-BE41-F317-8DFB-037AE51568E2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D89165B-D4A3-2EFB-17A1-72DB92B63704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6F215EE3-633B-02CC-245E-6888F405BC28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E837841-4FF8-0C9F-D783-7ED564E62D82}"/>
              </a:ext>
            </a:extLst>
          </p:cNvPr>
          <p:cNvSpPr txBox="1"/>
          <p:nvPr/>
        </p:nvSpPr>
        <p:spPr>
          <a:xfrm>
            <a:off x="1219200" y="-159068"/>
            <a:ext cx="16306800" cy="202596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F36E8-D7C9-DD88-2E82-3399EC541154}"/>
              </a:ext>
            </a:extLst>
          </p:cNvPr>
          <p:cNvSpPr txBox="1"/>
          <p:nvPr/>
        </p:nvSpPr>
        <p:spPr>
          <a:xfrm>
            <a:off x="1104900" y="112162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en-IN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BC1BF-D6F0-0C41-54D5-783AF2F575BD}"/>
              </a:ext>
            </a:extLst>
          </p:cNvPr>
          <p:cNvSpPr txBox="1"/>
          <p:nvPr/>
        </p:nvSpPr>
        <p:spPr>
          <a:xfrm>
            <a:off x="1066800" y="3114493"/>
            <a:ext cx="14859000" cy="4990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en-GB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M. Parvathi, A. Aravindhan, V. Madhan, R. Prem kumar</a:t>
            </a:r>
            <a:endParaRPr lang="en-IN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IN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Deepfake Audio Detection Using Self-Supervised Speech Embeddings and LSTM/</a:t>
            </a:r>
            <a:r>
              <a:rPr lang="en-IN" sz="4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BiLSTM</a:t>
            </a:r>
            <a:r>
              <a:rPr lang="en-IN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Network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en-IN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en-IN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at the Sixth International Conference on Artificial Intelligence and Smart Computing – 2026 (ICAISC 2026),</a:t>
            </a:r>
            <a:r>
              <a:rPr lang="en-IN" sz="4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Bannari</a:t>
            </a:r>
            <a:r>
              <a:rPr lang="en-IN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Amman Institute of Technology</a:t>
            </a:r>
            <a:r>
              <a:rPr lang="en-IN" sz="4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40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Sathyamangalam</a:t>
            </a:r>
            <a:r>
              <a:rPr lang="en-IN" sz="4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Tamil Nadu, India, Mar. 2026</a:t>
            </a:r>
            <a:endParaRPr lang="en-IN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75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066800" y="893265"/>
            <a:ext cx="6271173" cy="973635"/>
            <a:chOff x="0" y="0"/>
            <a:chExt cx="8361564" cy="12981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705" y="249892"/>
              <a:ext cx="8159859" cy="104828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1533" y="2462755"/>
            <a:ext cx="16844933" cy="7595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Ritushree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bohara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Amit kumar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bairwa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"Detecting Deepfake Audio Using</a:t>
            </a: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pectrogram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MachineLearning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Approaches", vol. 13, pp. 149478-149489, Aug. 2025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Hamza, A. R. Javed, F. Iqbal, N.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Kryvinska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S.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Almadhor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 Jalil, and R.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Borghol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“Deepfake Audio Detection via MFCC Features Using Machine Learning,” IEEE Access, vol. 10, pp. 134018–134028, 2022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 M. Wani, S. A. A. Qadri, D.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Comminiello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Amerini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“Detecting Audio Deepfakes: Integrating CNN and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Multi-Feature Concatenation,” in Proc. ACM Workshop on Information Hiding and Multimedia Security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IH&amp;MMSec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’24), 2024, pp. 271–276.S. 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Al-Halabi and A.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Kafri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“Audio Deepfake Detection Using a Hybrid Model of Convolutional and Bidirectional Long Short-Term Memory Networks,” Adv. Appl. Sci., vol. 11, no. 1, pp. 1–7, Jan. 2026.</a:t>
            </a:r>
          </a:p>
          <a:p>
            <a:pPr marL="96520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Babiker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Mohammed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Babiker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“Deepfake Audio Detection in Voice Authentication: A Spectral and CNN-Based Comprehensive Review,” Eng. Technol. Appl. Sci. Res., vol. 15, no. 6, pp. 29824–29832, Dec. 2025</a:t>
            </a:r>
          </a:p>
          <a:p>
            <a:pPr marL="742950" indent="-742950">
              <a:buFont typeface="+mj-lt"/>
              <a:buAutoNum type="arabicPeriod"/>
            </a:pPr>
            <a:endParaRPr lang="en-IN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256D-AF77-9EB0-C925-E95A288C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B897C0-A161-8801-8CE4-BA4A5EBC36DF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A86D383-AF93-568B-056F-CE30D0DB8CD4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8CB12EA0-6D16-2FBD-A97D-AD5E08653C2D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3685CD5-4C90-1EE3-4A54-79BECFDC63C8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59A7E1D-F875-CB6E-E134-FDB01DC1C758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6EAE02C-513E-FF41-C732-833682967D0B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464B213-6B58-1C1C-033A-6CD9BD0DAAAC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B39164D-9E8A-7B2D-5259-DB92DF9B0557}"/>
              </a:ext>
            </a:extLst>
          </p:cNvPr>
          <p:cNvGrpSpPr/>
          <p:nvPr/>
        </p:nvGrpSpPr>
        <p:grpSpPr>
          <a:xfrm>
            <a:off x="1066800" y="691559"/>
            <a:ext cx="6271173" cy="1175341"/>
            <a:chOff x="0" y="0"/>
            <a:chExt cx="8361564" cy="156712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0024D2A-D75B-307B-730C-596F177E7986}"/>
                </a:ext>
              </a:extLst>
            </p:cNvPr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AB58AA7-7C7A-D3C0-74B1-F2B585C614E3}"/>
                </a:ext>
              </a:extLst>
            </p:cNvPr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US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References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2DC5766-F3D3-DA23-534A-0095B60CF61B}"/>
              </a:ext>
            </a:extLst>
          </p:cNvPr>
          <p:cNvSpPr txBox="1"/>
          <p:nvPr/>
        </p:nvSpPr>
        <p:spPr>
          <a:xfrm>
            <a:off x="1179979" y="2490558"/>
            <a:ext cx="16635139" cy="6385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Baoping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Liu, Bo Liu,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Tianqing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Zhu, Ming Ding,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 Review of Deepfake and Its Detection: From Generative Adversarial Networks to Diffusion Models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International Journal of Intelligent Systems, 2025.</a:t>
            </a:r>
            <a:endParaRPr lang="en-US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David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Ghiurău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Daniela Elena Popescu,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Distinguishing Reality from AI: Approaches for Detecting Synthetic Content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Computers (MDPI), 2025.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Sarah Tipper, Hany F.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Atlam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Harjinder Singh Lallie,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An Investigation into the </a:t>
            </a:r>
            <a:r>
              <a:rPr lang="en-US" sz="2800" i="1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Utilisation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of CNN with LSTM for Video Deepfake Detection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Applied Sciences,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Achhardeep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 Kaur, Azadeh Noori Hoshyar, Vidya Saikrishna, Selena Firmin, Feng Xia,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Deepfake Video Detection: Challenges and Opportunities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Artificial Intelligence Review, 2024.</a:t>
            </a:r>
            <a:endParaRPr lang="en-US" sz="2800" dirty="0">
              <a:latin typeface="Times New Roman"/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Zekun Sun, Na Ruan, Jianhua Li, 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DDL: Effective and Comprehensible Interpretation Framework for Diverse Deepfake Detectors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  <a:sym typeface="Atkinson Hyperlegible"/>
              </a:rPr>
              <a:t>, IEEE Transactions on Information Forensics and Security, 2025.</a:t>
            </a:r>
            <a:endParaRPr lang="en-US" sz="2800" dirty="0"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3745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CD3F518D-4C79-1C7A-8453-EBE5FA63F74C}"/>
              </a:ext>
            </a:extLst>
          </p:cNvPr>
          <p:cNvGrpSpPr/>
          <p:nvPr/>
        </p:nvGrpSpPr>
        <p:grpSpPr>
          <a:xfrm>
            <a:off x="0" y="1502635"/>
            <a:ext cx="18288000" cy="651510"/>
            <a:chOff x="0" y="0"/>
            <a:chExt cx="24384000" cy="86868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CDF3EA5-B5C3-C0CD-ECDF-D9EF07A93BD2}"/>
                </a:ext>
              </a:extLst>
            </p:cNvPr>
            <p:cNvGrpSpPr/>
            <p:nvPr/>
          </p:nvGrpSpPr>
          <p:grpSpPr>
            <a:xfrm>
              <a:off x="0" y="0"/>
              <a:ext cx="24384000" cy="640080"/>
              <a:chOff x="0" y="0"/>
              <a:chExt cx="24384000" cy="640080"/>
            </a:xfrm>
          </p:grpSpPr>
          <p:sp>
            <p:nvSpPr>
              <p:cNvPr id="8" name="Freeform 4">
                <a:extLst>
                  <a:ext uri="{FF2B5EF4-FFF2-40B4-BE49-F238E27FC236}">
                    <a16:creationId xmlns:a16="http://schemas.microsoft.com/office/drawing/2014/main" id="{79BA35C0-A835-F549-AA8B-531084A9C07E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640080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64008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dirty="0"/>
              </a:p>
            </p:txBody>
          </p:sp>
        </p:grpSp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22EF4327-25FE-DA7A-D92C-8EE3C17ABBF6}"/>
                </a:ext>
              </a:extLst>
            </p:cNvPr>
            <p:cNvGrpSpPr/>
            <p:nvPr/>
          </p:nvGrpSpPr>
          <p:grpSpPr>
            <a:xfrm>
              <a:off x="0" y="411480"/>
              <a:ext cx="1422400" cy="457200"/>
              <a:chOff x="0" y="0"/>
              <a:chExt cx="1422400" cy="457200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38847E1C-1B51-91E7-E6B8-CC32FD52F359}"/>
                  </a:ext>
                </a:extLst>
              </p:cNvPr>
              <p:cNvSpPr/>
              <p:nvPr/>
            </p:nvSpPr>
            <p:spPr>
              <a:xfrm>
                <a:off x="0" y="0"/>
                <a:ext cx="1422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" h="457200">
                    <a:moveTo>
                      <a:pt x="0" y="0"/>
                    </a:moveTo>
                    <a:lnTo>
                      <a:pt x="1422400" y="0"/>
                    </a:lnTo>
                    <a:lnTo>
                      <a:pt x="14224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DA1F2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9D2E449B-1792-77AF-A697-40BD5DD9AA75}"/>
                </a:ext>
              </a:extLst>
            </p:cNvPr>
            <p:cNvGrpSpPr/>
            <p:nvPr/>
          </p:nvGrpSpPr>
          <p:grpSpPr>
            <a:xfrm>
              <a:off x="1574800" y="411480"/>
              <a:ext cx="22809200" cy="457200"/>
              <a:chOff x="0" y="0"/>
              <a:chExt cx="22809200" cy="457200"/>
            </a:xfrm>
          </p:grpSpPr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44F17B90-DC9B-A3A6-1264-64ADA21428C7}"/>
                  </a:ext>
                </a:extLst>
              </p:cNvPr>
              <p:cNvSpPr/>
              <p:nvPr/>
            </p:nvSpPr>
            <p:spPr>
              <a:xfrm>
                <a:off x="0" y="0"/>
                <a:ext cx="22809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09200" h="457200">
                    <a:moveTo>
                      <a:pt x="0" y="0"/>
                    </a:moveTo>
                    <a:lnTo>
                      <a:pt x="22809200" y="0"/>
                    </a:lnTo>
                    <a:lnTo>
                      <a:pt x="2280920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rgbClr val="2DA2BF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A9F25772-5300-7890-E9BB-91918E67CB2E}"/>
              </a:ext>
            </a:extLst>
          </p:cNvPr>
          <p:cNvGrpSpPr/>
          <p:nvPr/>
        </p:nvGrpSpPr>
        <p:grpSpPr>
          <a:xfrm>
            <a:off x="1066800" y="691559"/>
            <a:ext cx="6271173" cy="1175341"/>
            <a:chOff x="0" y="0"/>
            <a:chExt cx="8361564" cy="156712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09EE320-ABAE-6B6D-8498-91C2D4351B1A}"/>
                </a:ext>
              </a:extLst>
            </p:cNvPr>
            <p:cNvSpPr/>
            <p:nvPr/>
          </p:nvSpPr>
          <p:spPr>
            <a:xfrm>
              <a:off x="0" y="0"/>
              <a:ext cx="8159859" cy="1298178"/>
            </a:xfrm>
            <a:custGeom>
              <a:avLst/>
              <a:gdLst/>
              <a:ahLst/>
              <a:cxnLst/>
              <a:rect l="l" t="t" r="r" b="b"/>
              <a:pathLst>
                <a:path w="8159859" h="1298178">
                  <a:moveTo>
                    <a:pt x="0" y="0"/>
                  </a:moveTo>
                  <a:lnTo>
                    <a:pt x="8159859" y="0"/>
                  </a:lnTo>
                  <a:lnTo>
                    <a:pt x="8159859" y="1298178"/>
                  </a:lnTo>
                  <a:lnTo>
                    <a:pt x="0" y="12981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DCCFB7-2CD5-CFD1-4265-660949DB05AC}"/>
                </a:ext>
              </a:extLst>
            </p:cNvPr>
            <p:cNvSpPr txBox="1"/>
            <p:nvPr/>
          </p:nvSpPr>
          <p:spPr>
            <a:xfrm>
              <a:off x="201705" y="249891"/>
              <a:ext cx="8159859" cy="131722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5759"/>
                </a:lnSpc>
              </a:pPr>
              <a:r>
                <a:rPr lang="en-IN" sz="4800" b="1" dirty="0">
                  <a:solidFill>
                    <a:srgbClr val="464646"/>
                  </a:solidFill>
                  <a:latin typeface="Times New Roman"/>
                  <a:ea typeface="Arimo Bold"/>
                  <a:cs typeface="Times New Roman"/>
                  <a:sym typeface="Arimo Bold"/>
                </a:rPr>
                <a:t>Demo Link</a:t>
              </a:r>
              <a:endParaRPr lang="en-US" sz="4800" b="1" dirty="0">
                <a:solidFill>
                  <a:srgbClr val="464646"/>
                </a:solidFill>
                <a:latin typeface="Times New Roman"/>
                <a:ea typeface="Arimo Bold"/>
                <a:cs typeface="Times New Roman"/>
                <a:sym typeface="Arimo Bold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0B0A3FD-5541-D119-FC69-B6C08CAD00C4}"/>
              </a:ext>
            </a:extLst>
          </p:cNvPr>
          <p:cNvSpPr txBox="1"/>
          <p:nvPr/>
        </p:nvSpPr>
        <p:spPr>
          <a:xfrm>
            <a:off x="1218079" y="3309179"/>
            <a:ext cx="133711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hlinkClick r:id="rId2"/>
              </a:rPr>
              <a:t>https://aravindhan002-deepfake-audio-detection-using-self----app-4urokb.streamlit.app/</a:t>
            </a:r>
            <a:endParaRPr lang="en-IN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7937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90340"/>
            <a:ext cx="18288000" cy="480060"/>
            <a:chOff x="0" y="0"/>
            <a:chExt cx="24384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40080"/>
            </a:xfrm>
            <a:custGeom>
              <a:avLst/>
              <a:gdLst/>
              <a:ahLst/>
              <a:cxnLst/>
              <a:rect l="l" t="t" r="r" b="b"/>
              <a:pathLst>
                <a:path w="24384000" h="640080">
                  <a:moveTo>
                    <a:pt x="0" y="0"/>
                  </a:moveTo>
                  <a:lnTo>
                    <a:pt x="24384000" y="0"/>
                  </a:lnTo>
                  <a:lnTo>
                    <a:pt x="243840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258920"/>
            <a:ext cx="1066800" cy="342900"/>
            <a:chOff x="0" y="0"/>
            <a:chExt cx="142240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2400" cy="457200"/>
            </a:xfrm>
            <a:custGeom>
              <a:avLst/>
              <a:gdLst/>
              <a:ahLst/>
              <a:cxnLst/>
              <a:rect l="l" t="t" r="r" b="b"/>
              <a:pathLst>
                <a:path w="1422400" h="457200">
                  <a:moveTo>
                    <a:pt x="0" y="0"/>
                  </a:moveTo>
                  <a:lnTo>
                    <a:pt x="1422400" y="0"/>
                  </a:lnTo>
                  <a:lnTo>
                    <a:pt x="14224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1100" y="2258920"/>
            <a:ext cx="17106900" cy="342900"/>
            <a:chOff x="0" y="0"/>
            <a:chExt cx="2280920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09200" cy="457200"/>
            </a:xfrm>
            <a:custGeom>
              <a:avLst/>
              <a:gdLst/>
              <a:ahLst/>
              <a:cxnLst/>
              <a:rect l="l" t="t" r="r" b="b"/>
              <a:pathLst>
                <a:path w="22809200" h="457200">
                  <a:moveTo>
                    <a:pt x="0" y="0"/>
                  </a:moveTo>
                  <a:lnTo>
                    <a:pt x="22809200" y="0"/>
                  </a:lnTo>
                  <a:lnTo>
                    <a:pt x="228092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2DA2B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88360" y="4152900"/>
            <a:ext cx="10127271" cy="2684526"/>
            <a:chOff x="0" y="0"/>
            <a:chExt cx="13503028" cy="35793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03029" cy="3579368"/>
            </a:xfrm>
            <a:custGeom>
              <a:avLst/>
              <a:gdLst/>
              <a:ahLst/>
              <a:cxnLst/>
              <a:rect l="l" t="t" r="r" b="b"/>
              <a:pathLst>
                <a:path w="13503029" h="3579368">
                  <a:moveTo>
                    <a:pt x="0" y="0"/>
                  </a:moveTo>
                  <a:lnTo>
                    <a:pt x="13503029" y="0"/>
                  </a:lnTo>
                  <a:lnTo>
                    <a:pt x="13503029" y="3579368"/>
                  </a:lnTo>
                  <a:lnTo>
                    <a:pt x="0" y="3579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503028" cy="358889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7280"/>
                </a:lnSpc>
              </a:pPr>
              <a:r>
                <a:rPr lang="en-US" sz="1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Alice"/>
                  <a:cs typeface="Times New Roman" panose="02020603050405020304" pitchFamily="18" charset="0"/>
                  <a:sym typeface="Alice"/>
                </a:rPr>
                <a:t>Thank You 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782261" y="7670870"/>
            <a:ext cx="5339470" cy="1342263"/>
          </a:xfrm>
          <a:custGeom>
            <a:avLst/>
            <a:gdLst/>
            <a:ahLst/>
            <a:cxnLst/>
            <a:rect l="l" t="t" r="r" b="b"/>
            <a:pathLst>
              <a:path w="7119294" h="1789684">
                <a:moveTo>
                  <a:pt x="0" y="0"/>
                </a:moveTo>
                <a:lnTo>
                  <a:pt x="7119294" y="0"/>
                </a:lnTo>
                <a:lnTo>
                  <a:pt x="7119294" y="1789684"/>
                </a:lnTo>
                <a:lnTo>
                  <a:pt x="0" y="178968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1833</Words>
  <Application>Microsoft Office PowerPoint</Application>
  <PresentationFormat>Custom</PresentationFormat>
  <Paragraphs>269</Paragraphs>
  <Slides>36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FOR PBL PPT (1).pptx</dc:title>
  <dc:creator>DINESH KUMAR</dc:creator>
  <cp:lastModifiedBy>Aravindhan A</cp:lastModifiedBy>
  <cp:revision>792</cp:revision>
  <dcterms:created xsi:type="dcterms:W3CDTF">2006-08-16T00:00:00Z</dcterms:created>
  <dcterms:modified xsi:type="dcterms:W3CDTF">2026-05-06T04:04:11Z</dcterms:modified>
  <dc:identifier>DAG3nfPuQn4</dc:identifier>
</cp:coreProperties>
</file>