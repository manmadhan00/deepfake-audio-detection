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9" r:id="rId4"/>
    <p:sldId id="260" r:id="rId5"/>
    <p:sldId id="265" r:id="rId6"/>
    <p:sldId id="266" r:id="rId7"/>
    <p:sldId id="267" r:id="rId8"/>
    <p:sldId id="268" r:id="rId9"/>
    <p:sldId id="269" r:id="rId10"/>
    <p:sldId id="289" r:id="rId11"/>
    <p:sldId id="282" r:id="rId12"/>
    <p:sldId id="295" r:id="rId13"/>
    <p:sldId id="270" r:id="rId14"/>
    <p:sldId id="296" r:id="rId15"/>
    <p:sldId id="273" r:id="rId16"/>
    <p:sldId id="294" r:id="rId17"/>
    <p:sldId id="264" r:id="rId18"/>
    <p:sldId id="297" r:id="rId19"/>
    <p:sldId id="271" r:id="rId20"/>
    <p:sldId id="292" r:id="rId21"/>
    <p:sldId id="272" r:id="rId22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1F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E5A556-2716-460D-B549-80D57F512006}" v="1119" dt="2026-02-02T06:41:09.775"/>
    <p1510:client id="{382E99D5-91D8-492A-98A3-5D32AAF7533D}" v="183" dt="2026-02-02T09:04:16.275"/>
    <p1510:client id="{A13AD304-A988-49BA-87A7-58CC0D55E45C}" v="422" dt="2026-02-03T06:53:01.7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2941" autoAdjust="0"/>
  </p:normalViewPr>
  <p:slideViewPr>
    <p:cSldViewPr>
      <p:cViewPr varScale="1">
        <p:scale>
          <a:sx n="51" d="100"/>
          <a:sy n="51" d="100"/>
        </p:scale>
        <p:origin x="898" y="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18.03.2026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BF37B-5B49-E986-D8EC-19840D48B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F020A28-F5DF-FCBB-BF23-98A09B8E69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6BE855-6A20-0A47-9224-1571333D446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FB903F1-48B4-84AB-1208-B73512F199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F2D0826-DE82-F40E-CCA7-03E68BA56A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298447-2E1B-5B63-C6D1-3E8C3840C56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99F922-A66F-6360-EF86-3BAAAF0492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0396656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FDCD4-5DDF-434C-CF5B-699C73DD0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FB00BC3-EA78-BDBE-F633-48C7A9810F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F017CA-1942-CC6A-3247-9AF52B724E0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D37B8F2-6715-43A5-3A62-75509B32D8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AE23321-561B-F2EE-E7F8-7A916494B0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FEAB10-FD3E-FD4F-2A3F-E491DC743C4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EBB564-2999-1F68-6C95-D0214E99B7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2848322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C8F93-15CF-0832-A7E1-30B3EC023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47B4F95-34CB-B634-969E-96CF894E16B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E35397-8292-DB24-1812-8E5B000856B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6AF1FEF-6EAD-F913-6C37-76FC19E568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52FC189-AEB8-5DCF-A088-A99EA4AE4D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13B75C-3779-D7D6-3AEB-B12CFDC6654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5C4597-A4C4-59C0-DB4D-BD658715F0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3107445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B6B66-539B-FFBA-93B1-3BE3B1A2B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25CAD80-3371-AE52-0AFF-E6B86B7D6AB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B554C0-E841-413D-B75F-781F3979409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A42D4A7-F1DA-F3CA-EBF8-92E08E6F67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EB68FD7-9491-987D-E19D-92E01ADB89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AD6085-9032-5A92-422C-E196C2AEC25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DDBB7B-78C0-1C2F-2881-275398C0C9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7830886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37C17-6607-447F-FDB4-138C2D02B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885A6CF-26BD-2A29-47BC-0BF2D61AF6D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655E4F-3E39-75F7-5737-42DA19D30D0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9DDE852-3AB8-D3CE-7C61-A2841130F7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AD857B9-D136-B394-5DB3-7EFA261AA9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36AB22-45B8-EA45-B2AE-382E8E39335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5687DF-D271-BB58-0B82-F5E24BDD24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0338003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37C17-6607-447F-FDB4-138C2D02B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885A6CF-26BD-2A29-47BC-0BF2D61AF6D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655E4F-3E39-75F7-5737-42DA19D30D0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9DDE852-3AB8-D3CE-7C61-A2841130F7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AD857B9-D136-B394-5DB3-7EFA261AA9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36AB22-45B8-EA45-B2AE-382E8E39335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5687DF-D271-BB58-0B82-F5E24BDD24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5439672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A153F-CE3E-108E-1324-F46535D4B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1625B42-3A26-A5FD-D353-16893297376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5F7043-5F3B-FBE2-D030-0BE9BAFB702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5914542-E55A-8143-5161-D6FF2274A5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2B56DC3-1152-E871-34E4-97BDC3B287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F22237-D5E3-50D2-D07D-FFE9334F479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8689D2-05EB-584C-808F-5F93F7AF1D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5892898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12E7D-F65E-1D88-EFF7-A120C4891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8784061-5022-7920-9623-A9569C55898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3E6812-29EB-C5D4-9192-909C5E41D5A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09349FA-6773-99D0-7C28-F2E608F21C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79D422D-D554-92C9-B2AF-1D159D679D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F695D0-FD16-F663-F245-6F95F191319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D5DECE-0FB8-A53D-C5E2-574860A054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007281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1"/>
          <p:cNvSpPr/>
          <p:nvPr/>
        </p:nvSpPr>
        <p:spPr>
          <a:xfrm>
            <a:off x="3490227" y="847346"/>
            <a:ext cx="1560192" cy="1248154"/>
          </a:xfrm>
          <a:custGeom>
            <a:avLst/>
            <a:gdLst/>
            <a:ahLst/>
            <a:cxnLst/>
            <a:rect l="l" t="t" r="r" b="b"/>
            <a:pathLst>
              <a:path w="1560192" h="1248154">
                <a:moveTo>
                  <a:pt x="0" y="0"/>
                </a:moveTo>
                <a:lnTo>
                  <a:pt x="1560192" y="0"/>
                </a:lnTo>
                <a:lnTo>
                  <a:pt x="1560192" y="1248154"/>
                </a:lnTo>
                <a:lnTo>
                  <a:pt x="0" y="12481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 algn="ctr"/>
            <a:endParaRPr lang="en-IN" dirty="0"/>
          </a:p>
        </p:txBody>
      </p:sp>
      <p:sp>
        <p:nvSpPr>
          <p:cNvPr id="12" name="TextBox 12"/>
          <p:cNvSpPr txBox="1"/>
          <p:nvPr/>
        </p:nvSpPr>
        <p:spPr>
          <a:xfrm>
            <a:off x="661160" y="7143876"/>
            <a:ext cx="6507074" cy="1215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   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Ms. M. Parvathi, M.E., Ph.D.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Assistant Professor, AI &amp; DS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1658600" y="6969509"/>
            <a:ext cx="6507074" cy="2507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  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ARAVINDHAN A(22AI002)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MADHAN V (22AI025)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PREM KUMAR R (22AI039)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31136" y="3451793"/>
            <a:ext cx="14106843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IN" sz="4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Deepfake Audio Detection Using Self-Supervised Speech Embeddings and LSTM/</a:t>
            </a:r>
            <a:r>
              <a:rPr lang="en-IN" sz="45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IN" sz="4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Network</a:t>
            </a:r>
            <a:endParaRPr lang="en-IN" sz="45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3924228" y="621953"/>
            <a:ext cx="10853558" cy="1258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2899" dirty="0">
                <a:solidFill>
                  <a:srgbClr val="464646"/>
                </a:solidFill>
                <a:latin typeface="Times New Roman"/>
                <a:ea typeface="Alice"/>
                <a:cs typeface="Times New Roman"/>
                <a:sym typeface="Alice"/>
              </a:rPr>
              <a:t>NANDHA ENGINEERING COLLEGE ERODE – 52 (AUTONOMOUS)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924228" y="1845894"/>
            <a:ext cx="10853558" cy="589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2899" dirty="0">
                <a:solidFill>
                  <a:srgbClr val="464646"/>
                </a:solidFill>
                <a:latin typeface="Times New Roman"/>
                <a:ea typeface="Alice"/>
                <a:cs typeface="Times New Roman"/>
                <a:sym typeface="Alice"/>
              </a:rPr>
              <a:t>Department of Artificial Intelligence and Data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1197598" y="-195894"/>
            <a:ext cx="16479033" cy="2027337"/>
            <a:chOff x="-229644" y="0"/>
            <a:chExt cx="21972044" cy="270311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42400" cy="2682240"/>
            </a:xfrm>
            <a:custGeom>
              <a:avLst/>
              <a:gdLst/>
              <a:ahLst/>
              <a:cxnLst/>
              <a:rect l="l" t="t" r="r" b="b"/>
              <a:pathLst>
                <a:path w="21742400" h="2682240">
                  <a:moveTo>
                    <a:pt x="0" y="0"/>
                  </a:moveTo>
                  <a:lnTo>
                    <a:pt x="21742400" y="0"/>
                  </a:lnTo>
                  <a:lnTo>
                    <a:pt x="2174240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-229644" y="1825"/>
              <a:ext cx="21742400" cy="2701291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759"/>
                </a:lnSpc>
              </a:pPr>
              <a:r>
                <a:rPr lang="en-US" sz="4800" b="1" dirty="0">
                  <a:solidFill>
                    <a:srgbClr val="464646"/>
                  </a:solidFill>
                  <a:latin typeface="Times New Roman"/>
                  <a:ea typeface="Arimo Bold"/>
                  <a:cs typeface="Times New Roman"/>
                  <a:sym typeface="Arimo Bold"/>
                </a:rPr>
                <a:t>Contents 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367934" y="2317705"/>
            <a:ext cx="10633521" cy="7714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1050" lvl="1" indent="-457200" algn="l">
              <a:lnSpc>
                <a:spcPts val="678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Atkinson Hyperlegible"/>
                <a:cs typeface="Times New Roman"/>
                <a:sym typeface="Atkinson Hyperlegible"/>
              </a:rPr>
              <a:t>Introduction</a:t>
            </a:r>
            <a:endParaRPr lang="en-US" sz="2800" dirty="0">
              <a:solidFill>
                <a:srgbClr val="000000"/>
              </a:solidFill>
              <a:latin typeface="Times New Roman"/>
              <a:ea typeface="Atkinson Hyperlegible"/>
              <a:cs typeface="Times New Roman"/>
            </a:endParaRPr>
          </a:p>
          <a:p>
            <a:pPr marL="781050" lvl="1" indent="-457200" algn="l">
              <a:lnSpc>
                <a:spcPts val="678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Atkinson Hyperlegible"/>
                <a:cs typeface="Times New Roman"/>
                <a:sym typeface="Atkinson Hyperlegible"/>
              </a:rPr>
              <a:t>Objective</a:t>
            </a:r>
            <a:endParaRPr lang="en-US" sz="2800" dirty="0">
              <a:solidFill>
                <a:srgbClr val="000000"/>
              </a:solidFill>
              <a:latin typeface="Times New Roman"/>
              <a:ea typeface="Atkinson Hyperlegible"/>
              <a:cs typeface="Times New Roman"/>
            </a:endParaRPr>
          </a:p>
          <a:p>
            <a:pPr marL="781050" lvl="1" indent="-457200">
              <a:lnSpc>
                <a:spcPts val="678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Atkinson Hyperlegible"/>
                <a:cs typeface="Times New Roman"/>
              </a:rPr>
              <a:t>Problem Description </a:t>
            </a:r>
          </a:p>
          <a:p>
            <a:pPr marL="781050" lvl="1" indent="-457200">
              <a:lnSpc>
                <a:spcPts val="678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781050" lvl="1" indent="-457200">
              <a:lnSpc>
                <a:spcPts val="678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Atkinson Hyperlegible"/>
                <a:cs typeface="Times New Roman"/>
                <a:sym typeface="Atkinson Hyperlegible"/>
              </a:rPr>
              <a:t>Software Tools Used</a:t>
            </a:r>
            <a:endParaRPr lang="en-US" sz="2800" dirty="0">
              <a:solidFill>
                <a:srgbClr val="000000"/>
              </a:solidFill>
              <a:latin typeface="Times New Roman"/>
              <a:ea typeface="Atkinson Hyperlegible"/>
              <a:cs typeface="Times New Roman"/>
            </a:endParaRPr>
          </a:p>
          <a:p>
            <a:pPr marL="781050" lvl="1" indent="-457200">
              <a:lnSpc>
                <a:spcPts val="678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Atkinson Hyperlegible"/>
                <a:cs typeface="Times New Roman"/>
              </a:rPr>
              <a:t>Module Implementation</a:t>
            </a:r>
          </a:p>
          <a:p>
            <a:pPr marL="781050" lvl="1" indent="-457200" algn="l">
              <a:lnSpc>
                <a:spcPts val="678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Atkinson Hyperlegible"/>
                <a:cs typeface="Times New Roman"/>
                <a:sym typeface="Atkinson Hyperlegible"/>
              </a:rPr>
              <a:t>Screenshots</a:t>
            </a:r>
          </a:p>
          <a:p>
            <a:pPr marL="781050" lvl="1" indent="-457200">
              <a:lnSpc>
                <a:spcPts val="678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Atkinson Hyperlegible"/>
                <a:cs typeface="Times New Roman"/>
                <a:sym typeface="Atkinson Hyperlegible"/>
              </a:rPr>
              <a:t>Literature Survey</a:t>
            </a:r>
            <a:endParaRPr lang="en-US" sz="2800" dirty="0">
              <a:solidFill>
                <a:srgbClr val="000000"/>
              </a:solidFill>
              <a:latin typeface="Times New Roman"/>
              <a:ea typeface="Atkinson Hyperlegible"/>
              <a:cs typeface="Times New Roman"/>
            </a:endParaRPr>
          </a:p>
          <a:p>
            <a:pPr marL="781050" lvl="1" indent="-457200" algn="l">
              <a:lnSpc>
                <a:spcPts val="678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Atkinson Hyperlegible"/>
                <a:cs typeface="Times New Roman"/>
                <a:sym typeface="Atkinson Hyperlegible"/>
              </a:rPr>
              <a:t>References</a:t>
            </a:r>
            <a:endParaRPr lang="en-US" sz="2800" dirty="0">
              <a:solidFill>
                <a:srgbClr val="000000"/>
              </a:solidFill>
              <a:latin typeface="Times New Roman"/>
              <a:ea typeface="Atkinson Hyperlegible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1185275" y="-195894"/>
            <a:ext cx="16306800" cy="2011680"/>
            <a:chOff x="0" y="0"/>
            <a:chExt cx="21742400" cy="26822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42400" cy="2682240"/>
            </a:xfrm>
            <a:custGeom>
              <a:avLst/>
              <a:gdLst/>
              <a:ahLst/>
              <a:cxnLst/>
              <a:rect l="l" t="t" r="r" b="b"/>
              <a:pathLst>
                <a:path w="21742400" h="2682240">
                  <a:moveTo>
                    <a:pt x="0" y="0"/>
                  </a:moveTo>
                  <a:lnTo>
                    <a:pt x="21742400" y="0"/>
                  </a:lnTo>
                  <a:lnTo>
                    <a:pt x="2174240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21742400" cy="270129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759"/>
                </a:lnSpc>
              </a:pPr>
              <a:r>
                <a:rPr lang="en-US" sz="4800" b="1" dirty="0">
                  <a:solidFill>
                    <a:srgbClr val="464646"/>
                  </a:solidFill>
                  <a:latin typeface="Times New Roman"/>
                  <a:ea typeface="Arimo Bold"/>
                  <a:cs typeface="Times New Roman"/>
                  <a:sym typeface="Arimo Bold"/>
                </a:rPr>
                <a:t>Introduction</a:t>
              </a:r>
            </a:p>
          </p:txBody>
        </p:sp>
      </p:grpSp>
      <p:sp>
        <p:nvSpPr>
          <p:cNvPr id="12" name="Rectangle 1">
            <a:extLst>
              <a:ext uri="{FF2B5EF4-FFF2-40B4-BE49-F238E27FC236}">
                <a16:creationId xmlns:a16="http://schemas.microsoft.com/office/drawing/2014/main" id="{19FFA74F-A628-A6E1-D2B6-C5C2908947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" y="2684774"/>
            <a:ext cx="16310975" cy="58318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Deepfake audio is artificially generated speech that closely mimics real human voices using advanced AI techniques like TTS and voice conversion.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rapid growth of deep learning has made synthetic audio highly realistic and difficult to distinguish from real speech.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Deepfake audio poses serious threats such as identity theft, fraud calls, misinformation, and bypassing voice authentication systems.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detection methods like spectrogram-based models have limitations in accuracy and generalization.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Therefore, advanced techniques like self-supervised speech embeddings and LSTM/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models are required for effective and reliable detection.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1247905" y="-195894"/>
            <a:ext cx="16306800" cy="2011680"/>
            <a:chOff x="0" y="0"/>
            <a:chExt cx="21742400" cy="26822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42400" cy="2682240"/>
            </a:xfrm>
            <a:custGeom>
              <a:avLst/>
              <a:gdLst/>
              <a:ahLst/>
              <a:cxnLst/>
              <a:rect l="l" t="t" r="r" b="b"/>
              <a:pathLst>
                <a:path w="21742400" h="2682240">
                  <a:moveTo>
                    <a:pt x="0" y="0"/>
                  </a:moveTo>
                  <a:lnTo>
                    <a:pt x="21742400" y="0"/>
                  </a:lnTo>
                  <a:lnTo>
                    <a:pt x="2174240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21742400" cy="270129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ct val="150000"/>
                </a:lnSpc>
              </a:pPr>
              <a:r>
                <a:rPr lang="en-US" sz="4800" b="1" dirty="0">
                  <a:solidFill>
                    <a:srgbClr val="464646"/>
                  </a:solidFill>
                  <a:latin typeface="Times New Roman"/>
                  <a:ea typeface="Arimo Bold"/>
                  <a:cs typeface="Times New Roman"/>
                  <a:sym typeface="Arimo Bold"/>
                </a:rPr>
                <a:t>Objective</a:t>
              </a:r>
              <a:endParaRPr lang="en-US" dirty="0"/>
            </a:p>
          </p:txBody>
        </p:sp>
      </p:grpSp>
      <p:sp>
        <p:nvSpPr>
          <p:cNvPr id="12" name="Rectangle 1">
            <a:extLst>
              <a:ext uri="{FF2B5EF4-FFF2-40B4-BE49-F238E27FC236}">
                <a16:creationId xmlns:a16="http://schemas.microsoft.com/office/drawing/2014/main" id="{AC190810-E403-F0F5-CBBB-9439D3F89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3197069"/>
            <a:ext cx="15544800" cy="38928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efficient system for detecting deepfake audio using advanced deep learning techniques.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utilize self-supervised speech embeddings for better feature extraction from audio signals.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LSTM and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models for capturing temporal patterns in speech.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improve detection accuracy and generalization across different datasets and fake audio types.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build a lightweight, real-time system using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practical applications like cybersecurity and media verification.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 dirty="0"/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1028700" y="-509045"/>
            <a:ext cx="16459200" cy="2251710"/>
            <a:chOff x="0" y="0"/>
            <a:chExt cx="21945600" cy="300228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42400" cy="2682240"/>
            </a:xfrm>
            <a:custGeom>
              <a:avLst/>
              <a:gdLst/>
              <a:ahLst/>
              <a:cxnLst/>
              <a:rect l="l" t="t" r="r" b="b"/>
              <a:pathLst>
                <a:path w="21742400" h="2682240">
                  <a:moveTo>
                    <a:pt x="0" y="0"/>
                  </a:moveTo>
                  <a:lnTo>
                    <a:pt x="21742400" y="0"/>
                  </a:lnTo>
                  <a:lnTo>
                    <a:pt x="2174240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3200" y="300989"/>
              <a:ext cx="21742400" cy="2701291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759"/>
                </a:lnSpc>
              </a:pPr>
              <a:r>
                <a:rPr lang="en-US" sz="4800" b="1" dirty="0">
                  <a:solidFill>
                    <a:srgbClr val="464646"/>
                  </a:solidFill>
                  <a:latin typeface="Times New Roman"/>
                  <a:ea typeface="Arimo Bold"/>
                  <a:cs typeface="Times New Roman"/>
                  <a:sym typeface="Arimo Bold"/>
                </a:rPr>
                <a:t>Problem Description</a:t>
              </a:r>
            </a:p>
          </p:txBody>
        </p:sp>
      </p:grpSp>
      <p:sp>
        <p:nvSpPr>
          <p:cNvPr id="15" name="Rectangle 2">
            <a:extLst>
              <a:ext uri="{FF2B5EF4-FFF2-40B4-BE49-F238E27FC236}">
                <a16:creationId xmlns:a16="http://schemas.microsoft.com/office/drawing/2014/main" id="{0C1790F5-9544-01CE-955B-D405478A27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" y="2480868"/>
            <a:ext cx="17106900" cy="6478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Rapid advancements in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Text-to-Speech (TTS)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voice conversion technologies generate highly realistic synthetic audio, making detection challenging.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methods such as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spectrogram-based and CNN models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fail to capture fine-grained temporal and phonetic characteristics of deepfake audio.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Current systems show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poor generalization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leading to reduced performance on unseen datasets and new deepfake techniques.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approaches relying on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handcrafted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are insufficient for identifying complex, high-level speech patterns.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lightweight, accurate, and real-time detection system for applications in cybersecurity, digital forensics, and media authentication.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1066800" y="-340990"/>
            <a:ext cx="16494691" cy="2152235"/>
            <a:chOff x="-1" y="-166531"/>
            <a:chExt cx="21992921" cy="2869647"/>
          </a:xfrm>
        </p:grpSpPr>
        <p:sp>
          <p:nvSpPr>
            <p:cNvPr id="10" name="Freeform 10"/>
            <p:cNvSpPr/>
            <p:nvPr/>
          </p:nvSpPr>
          <p:spPr>
            <a:xfrm>
              <a:off x="-1" y="-166531"/>
              <a:ext cx="21742400" cy="2682240"/>
            </a:xfrm>
            <a:custGeom>
              <a:avLst/>
              <a:gdLst/>
              <a:ahLst/>
              <a:cxnLst/>
              <a:rect l="l" t="t" r="r" b="b"/>
              <a:pathLst>
                <a:path w="21742400" h="2682240">
                  <a:moveTo>
                    <a:pt x="0" y="0"/>
                  </a:moveTo>
                  <a:lnTo>
                    <a:pt x="21742400" y="0"/>
                  </a:lnTo>
                  <a:lnTo>
                    <a:pt x="2174240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50520" y="1825"/>
              <a:ext cx="21742400" cy="2701291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759"/>
                </a:lnSpc>
              </a:pPr>
              <a:r>
                <a:rPr lang="en-US" sz="4800" b="1" dirty="0">
                  <a:solidFill>
                    <a:srgbClr val="464646"/>
                  </a:solidFill>
                  <a:latin typeface="Times New Roman"/>
                  <a:ea typeface="Arimo Bold"/>
                  <a:cs typeface="Times New Roman"/>
                  <a:sym typeface="Arimo Bold"/>
                </a:rPr>
                <a:t>Proposed System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75575" y="2628900"/>
            <a:ext cx="16499081" cy="6380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14400" indent="-457200" algn="just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495425" algn="l"/>
              </a:tabLst>
            </a:pPr>
            <a:r>
              <a:rPr lang="en-GB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proposed system uses a hybrid CNN + </a:t>
            </a:r>
            <a:r>
              <a:rPr lang="en-GB" alt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BiLSTM</a:t>
            </a:r>
            <a:r>
              <a:rPr lang="en-GB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deep learning architecture to effectively detect audio deep fakes. </a:t>
            </a:r>
          </a:p>
          <a:p>
            <a:pPr marL="914400" indent="-457200" algn="just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495425" algn="l"/>
              </a:tabLst>
            </a:pPr>
            <a:r>
              <a:rPr lang="en-GB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MFCC features are extracted from uploaded audio files and reshaped into a format suitable for deep learning. </a:t>
            </a:r>
          </a:p>
          <a:p>
            <a:pPr marL="914400" indent="-457200" algn="just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495425" algn="l"/>
              </a:tabLst>
            </a:pPr>
            <a:r>
              <a:rPr lang="en-GB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CNN layers extract local spectral patterns, while </a:t>
            </a:r>
            <a:r>
              <a:rPr lang="en-GB" alt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BiLSTM</a:t>
            </a:r>
            <a:r>
              <a:rPr lang="en-GB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layers </a:t>
            </a:r>
            <a:r>
              <a:rPr lang="en-GB" alt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analyze</a:t>
            </a:r>
            <a:r>
              <a:rPr lang="en-GB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temporal speech dependencies in both forward and backward directions. The trained model predicts the probability of the audio being fake. </a:t>
            </a:r>
          </a:p>
          <a:p>
            <a:pPr marL="914400" indent="-457200" algn="just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495425" algn="l"/>
              </a:tabLst>
            </a:pPr>
            <a:r>
              <a:rPr lang="en-GB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en-GB" alt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Streamlit</a:t>
            </a:r>
            <a:r>
              <a:rPr lang="en-GB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-based dashboard enables users to upload audio files, view waveforms, spectrograms, MFCC visualizations, confidence gauges, and generate downloadable HTML reports. </a:t>
            </a:r>
          </a:p>
          <a:p>
            <a:pPr marL="914400" indent="-457200" algn="just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495425" algn="l"/>
              </a:tabLst>
            </a:pPr>
            <a:r>
              <a:rPr lang="en-GB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system ensures accurate, automated, and user-friendly deep fake detection.</a:t>
            </a:r>
            <a:endParaRPr lang="en-GB" alt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90575" lvl="1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762000" y="876300"/>
            <a:ext cx="7883650" cy="1200570"/>
            <a:chOff x="-13767" y="-19051"/>
            <a:chExt cx="10511533" cy="1600759"/>
          </a:xfrm>
        </p:grpSpPr>
        <p:sp>
          <p:nvSpPr>
            <p:cNvPr id="10" name="Freeform 10"/>
            <p:cNvSpPr/>
            <p:nvPr/>
          </p:nvSpPr>
          <p:spPr>
            <a:xfrm>
              <a:off x="-13767" y="283530"/>
              <a:ext cx="9975847" cy="1298178"/>
            </a:xfrm>
            <a:custGeom>
              <a:avLst/>
              <a:gdLst/>
              <a:ahLst/>
              <a:cxnLst/>
              <a:rect l="l" t="t" r="r" b="b"/>
              <a:pathLst>
                <a:path w="9975848" h="1298178">
                  <a:moveTo>
                    <a:pt x="0" y="0"/>
                  </a:moveTo>
                  <a:lnTo>
                    <a:pt x="9975848" y="0"/>
                  </a:lnTo>
                  <a:lnTo>
                    <a:pt x="9975848" y="1298178"/>
                  </a:lnTo>
                  <a:lnTo>
                    <a:pt x="0" y="12981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21917" y="-19051"/>
              <a:ext cx="9975849" cy="131722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759"/>
                </a:lnSpc>
              </a:pPr>
              <a:r>
                <a:rPr lang="en-US" sz="4800" b="1" dirty="0">
                  <a:solidFill>
                    <a:srgbClr val="464646"/>
                  </a:solidFill>
                  <a:latin typeface="Times New Roman"/>
                  <a:ea typeface="Arimo Bold"/>
                  <a:cs typeface="Times New Roman"/>
                  <a:sym typeface="Arimo Bold"/>
                </a:rPr>
                <a:t>Software / Tools Used</a:t>
              </a:r>
            </a:p>
          </p:txBody>
        </p:sp>
      </p:grpSp>
      <p:sp>
        <p:nvSpPr>
          <p:cNvPr id="13" name="Rectangle 1">
            <a:extLst>
              <a:ext uri="{FF2B5EF4-FFF2-40B4-BE49-F238E27FC236}">
                <a16:creationId xmlns:a16="http://schemas.microsoft.com/office/drawing/2014/main" id="{346353FF-E0E7-826C-AF58-4A42777E55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3763" y="2553375"/>
            <a:ext cx="16687800" cy="58318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programming language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developing, training, and deploying the deepfake detection system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TensorFlow /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deep learning framework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Used to build and train CNN and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models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Mel Frequency Cepstral Coefficients (MFCC)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Extracted as primary audio features for classification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Neural Network (CNN)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Used to learn spatial representations from MFCC features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Bidirectional Long Short-Term Memory (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Used to capture temporal dependencies in speech signals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Librosa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audio processing and MFCC feature extraction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numerical computations and data preprocessing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Used to develop an interactive web interface for audio upload and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1181100" y="807335"/>
            <a:ext cx="13478835" cy="1047699"/>
            <a:chOff x="0" y="-19050"/>
            <a:chExt cx="17971780" cy="1396932"/>
          </a:xfrm>
        </p:grpSpPr>
        <p:sp>
          <p:nvSpPr>
            <p:cNvPr id="10" name="Freeform 10"/>
            <p:cNvSpPr/>
            <p:nvPr/>
          </p:nvSpPr>
          <p:spPr>
            <a:xfrm>
              <a:off x="7995932" y="79703"/>
              <a:ext cx="9975848" cy="1298179"/>
            </a:xfrm>
            <a:custGeom>
              <a:avLst/>
              <a:gdLst/>
              <a:ahLst/>
              <a:cxnLst/>
              <a:rect l="l" t="t" r="r" b="b"/>
              <a:pathLst>
                <a:path w="9975848" h="1298178">
                  <a:moveTo>
                    <a:pt x="0" y="0"/>
                  </a:moveTo>
                  <a:lnTo>
                    <a:pt x="9975848" y="0"/>
                  </a:lnTo>
                  <a:lnTo>
                    <a:pt x="9975848" y="1298178"/>
                  </a:lnTo>
                  <a:lnTo>
                    <a:pt x="0" y="12981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9975849" cy="1317228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759"/>
                </a:lnSpc>
              </a:pPr>
              <a:r>
                <a:rPr lang="en-US" sz="4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Module 1: </a:t>
              </a:r>
              <a:r>
                <a:rPr lang="en-GB" altLang="en-US" sz="4800" b="1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Audio Input</a:t>
              </a:r>
              <a:endParaRPr lang="en-US" sz="4800" b="1" dirty="0">
                <a:solidFill>
                  <a:srgbClr val="464646"/>
                </a:solidFill>
                <a:latin typeface="Times New Roman"/>
                <a:ea typeface="Arimo Bold"/>
                <a:cs typeface="Times New Roman"/>
                <a:sym typeface="Arimo Bold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9315EF42-E29E-4590-10FD-AFB6B1FB006C}"/>
              </a:ext>
            </a:extLst>
          </p:cNvPr>
          <p:cNvSpPr txBox="1"/>
          <p:nvPr/>
        </p:nvSpPr>
        <p:spPr>
          <a:xfrm>
            <a:off x="1066800" y="2835176"/>
            <a:ext cx="16383000" cy="4539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allows the user to upload an audio file through a web-based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interface.The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supports multiple audio formats such as WAV, MP3, OGG, FLAC, and M4A.Once uploaded, the audio is read and converted into a numerical format suitable for further processing by the deep learning model..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>
              <a:lnSpc>
                <a:spcPct val="150000"/>
              </a:lnSpc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(Web Interface)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1181100" y="616572"/>
            <a:ext cx="14993059" cy="1181154"/>
            <a:chOff x="545033" y="-139869"/>
            <a:chExt cx="19990745" cy="1574872"/>
          </a:xfrm>
        </p:grpSpPr>
        <p:sp>
          <p:nvSpPr>
            <p:cNvPr id="10" name="Freeform 10"/>
            <p:cNvSpPr/>
            <p:nvPr/>
          </p:nvSpPr>
          <p:spPr>
            <a:xfrm>
              <a:off x="10559930" y="-139869"/>
              <a:ext cx="9975848" cy="1298178"/>
            </a:xfrm>
            <a:custGeom>
              <a:avLst/>
              <a:gdLst/>
              <a:ahLst/>
              <a:cxnLst/>
              <a:rect l="l" t="t" r="r" b="b"/>
              <a:pathLst>
                <a:path w="9975848" h="1298178">
                  <a:moveTo>
                    <a:pt x="0" y="0"/>
                  </a:moveTo>
                  <a:lnTo>
                    <a:pt x="9975848" y="0"/>
                  </a:lnTo>
                  <a:lnTo>
                    <a:pt x="9975848" y="1298178"/>
                  </a:lnTo>
                  <a:lnTo>
                    <a:pt x="0" y="12981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45033" y="117774"/>
              <a:ext cx="12446000" cy="131722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759"/>
                </a:lnSpc>
              </a:pPr>
              <a:r>
                <a:rPr lang="en-IN" sz="4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Module 2: Audio Pre-processing</a:t>
              </a:r>
              <a:endParaRPr lang="en-US" sz="4800" b="1" dirty="0">
                <a:solidFill>
                  <a:srgbClr val="464646"/>
                </a:solidFill>
                <a:latin typeface="Times New Roman"/>
                <a:ea typeface="Arimo Bold"/>
                <a:cs typeface="Times New Roman"/>
                <a:sym typeface="Arimo Bold"/>
              </a:endParaR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81100" y="2209226"/>
            <a:ext cx="15980114" cy="7032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uploaded audio is pre-processed to ensure uniformity and noise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robustness.The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audio signal is resampled to a fixed sampling rate (e.g., 16 kHz) to maintain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consistency.Optional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noise reduction and normalization are applied to improve audio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quality.The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audio is trimmed or padded to a fixed length to ensure uniform input size for the model.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module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libraries such as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Librosa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NumPy are used to handle and process the audio signal efficiently.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audio signal-processing algorithms such as resampling, noise reduction, normalization, and trimming/padding are applied to make the audio uniform and suitable for feature extraction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0FF12-0F5A-CCD3-F734-023AA4DA8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844BFE4-EE48-2F35-C32A-C7BCD4DD0A98}"/>
              </a:ext>
            </a:extLst>
          </p:cNvPr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79D269AC-D527-BD63-99A3-E44D223F81AD}"/>
                </a:ext>
              </a:extLst>
            </p:cNvPr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58E49253-A8E7-A3A2-CBC0-568716EBB602}"/>
                  </a:ext>
                </a:extLst>
              </p:cNvPr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165A16DD-533D-B7CB-B8A1-08C7EBC381E1}"/>
                </a:ext>
              </a:extLst>
            </p:cNvPr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8401C009-DB91-44D8-1F78-111B13CFEF7E}"/>
                  </a:ext>
                </a:extLst>
              </p:cNvPr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434D0277-217A-903D-0580-81BD9F7DA5AB}"/>
                </a:ext>
              </a:extLst>
            </p:cNvPr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F47D149D-688E-BC16-D28D-91BA1AEAE0D6}"/>
                  </a:ext>
                </a:extLst>
              </p:cNvPr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B5267C8B-15F0-D76E-0615-85A6E0940EA1}"/>
              </a:ext>
            </a:extLst>
          </p:cNvPr>
          <p:cNvGrpSpPr/>
          <p:nvPr/>
        </p:nvGrpSpPr>
        <p:grpSpPr>
          <a:xfrm>
            <a:off x="1181100" y="616572"/>
            <a:ext cx="14993059" cy="1181154"/>
            <a:chOff x="545033" y="-139869"/>
            <a:chExt cx="19990745" cy="1574872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2A0A9D8D-3771-54E5-9D41-0C70FF43BB88}"/>
                </a:ext>
              </a:extLst>
            </p:cNvPr>
            <p:cNvSpPr/>
            <p:nvPr/>
          </p:nvSpPr>
          <p:spPr>
            <a:xfrm>
              <a:off x="10559930" y="-139869"/>
              <a:ext cx="9975848" cy="1298178"/>
            </a:xfrm>
            <a:custGeom>
              <a:avLst/>
              <a:gdLst/>
              <a:ahLst/>
              <a:cxnLst/>
              <a:rect l="l" t="t" r="r" b="b"/>
              <a:pathLst>
                <a:path w="9975848" h="1298178">
                  <a:moveTo>
                    <a:pt x="0" y="0"/>
                  </a:moveTo>
                  <a:lnTo>
                    <a:pt x="9975848" y="0"/>
                  </a:lnTo>
                  <a:lnTo>
                    <a:pt x="9975848" y="1298178"/>
                  </a:lnTo>
                  <a:lnTo>
                    <a:pt x="0" y="12981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1BE40790-E9CB-FDBE-6D39-E2F7460B8EE8}"/>
                </a:ext>
              </a:extLst>
            </p:cNvPr>
            <p:cNvSpPr txBox="1"/>
            <p:nvPr/>
          </p:nvSpPr>
          <p:spPr>
            <a:xfrm>
              <a:off x="545033" y="117774"/>
              <a:ext cx="12446000" cy="131722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759"/>
                </a:lnSpc>
              </a:pPr>
              <a:r>
                <a:rPr lang="en-IN" sz="4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Module 3: Feature Extraction</a:t>
              </a:r>
              <a:endParaRPr lang="en-US" sz="4800" b="1" dirty="0">
                <a:solidFill>
                  <a:srgbClr val="464646"/>
                </a:solidFill>
                <a:latin typeface="Times New Roman"/>
                <a:ea typeface="Arimo Bold"/>
                <a:cs typeface="Times New Roman"/>
                <a:sym typeface="Arimo Bold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999E724F-ADCD-7F5B-7285-1A0AAB720534}"/>
              </a:ext>
            </a:extLst>
          </p:cNvPr>
          <p:cNvSpPr txBox="1"/>
          <p:nvPr/>
        </p:nvSpPr>
        <p:spPr>
          <a:xfrm>
            <a:off x="1181100" y="2209226"/>
            <a:ext cx="15980114" cy="73091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module, Mel Frequency Cepstral Coefficients (MFCC) are extracted from the pre-processed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audio.MFCC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features effectively capture the spectral and perceptual characteristics of human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speech.The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extracted MFCC features are reshaped into a suitable format to serve as input for the CNN and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layers.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module, Python with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Librosa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NumPy is used to extract and manage speech features from the pre-processed audio.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MFCC (Mel Frequency Cepstral Coefficient) algorithm is applied to extract spectral features that represent important characteristics of human speech for deepfake detection.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0384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B1319-C2A6-A2AF-AD7A-C8D36D450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E120CAC-F365-3324-E2B3-01635DAD7DD2}"/>
              </a:ext>
            </a:extLst>
          </p:cNvPr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443297B7-4939-D06B-D38C-800B35D9FB80}"/>
                </a:ext>
              </a:extLst>
            </p:cNvPr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B6E389DD-4BDC-43D4-D215-8526D9158117}"/>
                  </a:ext>
                </a:extLst>
              </p:cNvPr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54339DAD-3F0D-84A6-8820-0CF057AD40F8}"/>
                </a:ext>
              </a:extLst>
            </p:cNvPr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04282FF7-EDC3-1337-46C5-FE8439E5CEED}"/>
                  </a:ext>
                </a:extLst>
              </p:cNvPr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645B78EF-CDC2-6F4C-92EE-531599868A38}"/>
                </a:ext>
              </a:extLst>
            </p:cNvPr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F04F3DB5-42AD-2699-9EA4-5214CB52AA00}"/>
                  </a:ext>
                </a:extLst>
              </p:cNvPr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A9A088C1-AA7C-19E2-699B-FB2F7A68FE68}"/>
              </a:ext>
            </a:extLst>
          </p:cNvPr>
          <p:cNvGrpSpPr/>
          <p:nvPr/>
        </p:nvGrpSpPr>
        <p:grpSpPr>
          <a:xfrm>
            <a:off x="1066800" y="616572"/>
            <a:ext cx="16421100" cy="1102765"/>
            <a:chOff x="392633" y="-139869"/>
            <a:chExt cx="21894800" cy="147035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C00F48B-8F9A-F206-CCD2-DD6065737CBC}"/>
                </a:ext>
              </a:extLst>
            </p:cNvPr>
            <p:cNvSpPr/>
            <p:nvPr/>
          </p:nvSpPr>
          <p:spPr>
            <a:xfrm>
              <a:off x="10559930" y="-139869"/>
              <a:ext cx="9975848" cy="1298178"/>
            </a:xfrm>
            <a:custGeom>
              <a:avLst/>
              <a:gdLst/>
              <a:ahLst/>
              <a:cxnLst/>
              <a:rect l="l" t="t" r="r" b="b"/>
              <a:pathLst>
                <a:path w="9975848" h="1298178">
                  <a:moveTo>
                    <a:pt x="0" y="0"/>
                  </a:moveTo>
                  <a:lnTo>
                    <a:pt x="9975848" y="0"/>
                  </a:lnTo>
                  <a:lnTo>
                    <a:pt x="9975848" y="1298178"/>
                  </a:lnTo>
                  <a:lnTo>
                    <a:pt x="0" y="12981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9EBB44D1-A6A1-3DC1-E37C-41FDB2482A0B}"/>
                </a:ext>
              </a:extLst>
            </p:cNvPr>
            <p:cNvSpPr txBox="1"/>
            <p:nvPr/>
          </p:nvSpPr>
          <p:spPr>
            <a:xfrm>
              <a:off x="392633" y="13255"/>
              <a:ext cx="21894800" cy="131722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759"/>
                </a:lnSpc>
              </a:pPr>
              <a:r>
                <a:rPr lang="en-US" sz="4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Module 4: Deep Learning Model Prediction (CNN + </a:t>
              </a:r>
              <a:r>
                <a:rPr lang="en-US" sz="4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BiLSTM</a:t>
              </a:r>
              <a:r>
                <a:rPr lang="en-US" sz="4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n-US" sz="4800" b="1" dirty="0">
                <a:solidFill>
                  <a:srgbClr val="464646"/>
                </a:solidFill>
                <a:latin typeface="Times New Roman"/>
                <a:ea typeface="Arimo Bold"/>
                <a:cs typeface="Times New Roman"/>
                <a:sym typeface="Arimo Bold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0D2AA981-3FAF-3A70-D389-12FC36ED6C21}"/>
              </a:ext>
            </a:extLst>
          </p:cNvPr>
          <p:cNvSpPr txBox="1"/>
          <p:nvPr/>
        </p:nvSpPr>
        <p:spPr>
          <a:xfrm>
            <a:off x="1066800" y="2161765"/>
            <a:ext cx="17106900" cy="81868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performs deepfake audio classification using a hybrid CNN and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model.CNN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layers learn spatial patterns from MFCC feature maps, identifying local spectral artifacts introduced by synthetic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speech.BiLSTM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layers capture long-term temporal dependencies and sequential speech patterns, enabling effective discrimination between real and fake audio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signals.The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final output predicts whether the uploaded audio is genuine or deepfake.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module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with TensorFlow/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to build and execute the deep learning model, and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to display the prediction results to the user.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Used: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Convolutional Neural Network (CNN) is used to learn spatial patterns from MFCC features, and a Bidirectional Long Short-Term Memory 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algorithm is used to capture temporal speech patterns and classify the audio as real or deepfake.</a:t>
            </a: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0861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1049C-2E71-B0D6-1FBF-BF83983E2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404C544-A58F-65DD-06CA-1D6C73206670}"/>
              </a:ext>
            </a:extLst>
          </p:cNvPr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1B613297-C6F7-F170-5E8E-8A20A6489D50}"/>
                </a:ext>
              </a:extLst>
            </p:cNvPr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5587E32D-34CE-A085-1ED4-8CA36BE73C62}"/>
                  </a:ext>
                </a:extLst>
              </p:cNvPr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18BAF1E2-B601-9A12-5EE1-D16C7C0C1E2D}"/>
                </a:ext>
              </a:extLst>
            </p:cNvPr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61CF0496-7DC5-634C-0A72-0291EFFF1692}"/>
                  </a:ext>
                </a:extLst>
              </p:cNvPr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BD38EEBE-8DC8-126C-3C0F-000DF6879937}"/>
                </a:ext>
              </a:extLst>
            </p:cNvPr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5019EFAE-B08E-A631-5B60-63F0C9504DAC}"/>
                  </a:ext>
                </a:extLst>
              </p:cNvPr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B16FBAC2-B4F8-3DB9-246D-FBA0B3FD648B}"/>
              </a:ext>
            </a:extLst>
          </p:cNvPr>
          <p:cNvGrpSpPr/>
          <p:nvPr/>
        </p:nvGrpSpPr>
        <p:grpSpPr>
          <a:xfrm>
            <a:off x="1066800" y="616572"/>
            <a:ext cx="16421100" cy="1102765"/>
            <a:chOff x="392633" y="-139869"/>
            <a:chExt cx="21894800" cy="147035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2093C12D-15E3-A6A9-B349-A6818D3AB57D}"/>
                </a:ext>
              </a:extLst>
            </p:cNvPr>
            <p:cNvSpPr/>
            <p:nvPr/>
          </p:nvSpPr>
          <p:spPr>
            <a:xfrm>
              <a:off x="10559930" y="-139869"/>
              <a:ext cx="9975848" cy="1298178"/>
            </a:xfrm>
            <a:custGeom>
              <a:avLst/>
              <a:gdLst/>
              <a:ahLst/>
              <a:cxnLst/>
              <a:rect l="l" t="t" r="r" b="b"/>
              <a:pathLst>
                <a:path w="9975848" h="1298178">
                  <a:moveTo>
                    <a:pt x="0" y="0"/>
                  </a:moveTo>
                  <a:lnTo>
                    <a:pt x="9975848" y="0"/>
                  </a:lnTo>
                  <a:lnTo>
                    <a:pt x="9975848" y="1298178"/>
                  </a:lnTo>
                  <a:lnTo>
                    <a:pt x="0" y="12981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598473F7-48C7-63C1-F7EB-7819672891C0}"/>
                </a:ext>
              </a:extLst>
            </p:cNvPr>
            <p:cNvSpPr txBox="1"/>
            <p:nvPr/>
          </p:nvSpPr>
          <p:spPr>
            <a:xfrm>
              <a:off x="392633" y="13255"/>
              <a:ext cx="21894800" cy="131722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>
                <a:lnSpc>
                  <a:spcPts val="5759"/>
                </a:lnSpc>
              </a:pPr>
              <a:r>
                <a:rPr lang="en-US" sz="4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Module Implementation </a:t>
              </a:r>
              <a:endParaRPr lang="en-US" sz="4800" b="1" dirty="0">
                <a:solidFill>
                  <a:srgbClr val="464646"/>
                </a:solidFill>
                <a:latin typeface="Times New Roman"/>
                <a:ea typeface="Arimo Bold"/>
                <a:cs typeface="Times New Roman"/>
                <a:sym typeface="Arimo Bold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71C58FC3-3691-9A20-95CA-D6000FB5E418}"/>
              </a:ext>
            </a:extLst>
          </p:cNvPr>
          <p:cNvSpPr txBox="1"/>
          <p:nvPr/>
        </p:nvSpPr>
        <p:spPr>
          <a:xfrm>
            <a:off x="6477000" y="8689464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Block Diagram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54AF423-3EF3-08AF-04E1-82D8B96DF3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3773" y="3233108"/>
            <a:ext cx="6248399" cy="490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2867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772325" y="721474"/>
            <a:ext cx="7868490" cy="1108105"/>
            <a:chOff x="0" y="0"/>
            <a:chExt cx="10491320" cy="147747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975848" cy="1298178"/>
            </a:xfrm>
            <a:custGeom>
              <a:avLst/>
              <a:gdLst/>
              <a:ahLst/>
              <a:cxnLst/>
              <a:rect l="l" t="t" r="r" b="b"/>
              <a:pathLst>
                <a:path w="9975848" h="1298178">
                  <a:moveTo>
                    <a:pt x="0" y="0"/>
                  </a:moveTo>
                  <a:lnTo>
                    <a:pt x="9975848" y="0"/>
                  </a:lnTo>
                  <a:lnTo>
                    <a:pt x="9975848" y="1298178"/>
                  </a:lnTo>
                  <a:lnTo>
                    <a:pt x="0" y="12981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15471" y="160244"/>
              <a:ext cx="9975849" cy="131722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759"/>
                </a:lnSpc>
              </a:pPr>
              <a:r>
                <a:rPr lang="en-US" sz="4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Screenshot</a:t>
              </a:r>
              <a:endParaRPr lang="en-US" sz="4800" b="1" dirty="0">
                <a:solidFill>
                  <a:srgbClr val="464646"/>
                </a:solidFill>
                <a:latin typeface="Times New Roman"/>
                <a:ea typeface="Arimo Bold"/>
                <a:cs typeface="Times New Roman"/>
                <a:sym typeface="Arimo Bold"/>
              </a:endParaRPr>
            </a:p>
          </p:txBody>
        </p:sp>
      </p:grpSp>
      <p:pic>
        <p:nvPicPr>
          <p:cNvPr id="12" name="Content Placeholder 5">
            <a:extLst>
              <a:ext uri="{FF2B5EF4-FFF2-40B4-BE49-F238E27FC236}">
                <a16:creationId xmlns:a16="http://schemas.microsoft.com/office/drawing/2014/main" id="{E97865B9-171E-4954-6887-FDE4C0A51C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2923297"/>
            <a:ext cx="10363200" cy="511580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C40B5C7-540E-87C2-A3D4-936916657A8D}"/>
              </a:ext>
            </a:extLst>
          </p:cNvPr>
          <p:cNvSpPr txBox="1"/>
          <p:nvPr/>
        </p:nvSpPr>
        <p:spPr>
          <a:xfrm>
            <a:off x="7772400" y="8546643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endParaRPr lang="en-IN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5CC12-A445-34FA-C807-DA29C8F12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7EDC5D9-9733-67B2-B578-C8D3A1F86C80}"/>
              </a:ext>
            </a:extLst>
          </p:cNvPr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79F17A1B-8D59-C453-E3F0-DDE90F1C1D1D}"/>
                </a:ext>
              </a:extLst>
            </p:cNvPr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012562DA-7B9F-3C9F-F5A6-9956CBA27027}"/>
                  </a:ext>
                </a:extLst>
              </p:cNvPr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1558BC05-1938-5486-7BA5-CFD2A66D41AA}"/>
                </a:ext>
              </a:extLst>
            </p:cNvPr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32140310-B68A-8F05-4243-E27FA35A55F5}"/>
                  </a:ext>
                </a:extLst>
              </p:cNvPr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C22574CB-3B05-2F47-C652-A29BCB7BB850}"/>
                </a:ext>
              </a:extLst>
            </p:cNvPr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1BE91080-BC82-750F-F7A7-BCAC271132B8}"/>
                  </a:ext>
                </a:extLst>
              </p:cNvPr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8D3A75EC-B37A-6023-A078-4DAD6526C4F6}"/>
              </a:ext>
            </a:extLst>
          </p:cNvPr>
          <p:cNvGrpSpPr/>
          <p:nvPr/>
        </p:nvGrpSpPr>
        <p:grpSpPr>
          <a:xfrm>
            <a:off x="772325" y="721474"/>
            <a:ext cx="7868490" cy="1108105"/>
            <a:chOff x="0" y="0"/>
            <a:chExt cx="10491320" cy="147747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0231EC34-A723-0A1E-FE8F-5CD67CD755C6}"/>
                </a:ext>
              </a:extLst>
            </p:cNvPr>
            <p:cNvSpPr/>
            <p:nvPr/>
          </p:nvSpPr>
          <p:spPr>
            <a:xfrm>
              <a:off x="0" y="0"/>
              <a:ext cx="9975848" cy="1298178"/>
            </a:xfrm>
            <a:custGeom>
              <a:avLst/>
              <a:gdLst/>
              <a:ahLst/>
              <a:cxnLst/>
              <a:rect l="l" t="t" r="r" b="b"/>
              <a:pathLst>
                <a:path w="9975848" h="1298178">
                  <a:moveTo>
                    <a:pt x="0" y="0"/>
                  </a:moveTo>
                  <a:lnTo>
                    <a:pt x="9975848" y="0"/>
                  </a:lnTo>
                  <a:lnTo>
                    <a:pt x="9975848" y="1298178"/>
                  </a:lnTo>
                  <a:lnTo>
                    <a:pt x="0" y="12981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F356FCCE-FEC6-B63B-F906-798E10A13A01}"/>
                </a:ext>
              </a:extLst>
            </p:cNvPr>
            <p:cNvSpPr txBox="1"/>
            <p:nvPr/>
          </p:nvSpPr>
          <p:spPr>
            <a:xfrm>
              <a:off x="515471" y="160244"/>
              <a:ext cx="9975849" cy="131722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759"/>
                </a:lnSpc>
              </a:pPr>
              <a:r>
                <a:rPr lang="en-US" sz="4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Screenshot</a:t>
              </a:r>
              <a:endParaRPr lang="en-US" sz="4800" b="1" dirty="0">
                <a:solidFill>
                  <a:srgbClr val="464646"/>
                </a:solidFill>
                <a:latin typeface="Times New Roman"/>
                <a:ea typeface="Arimo Bold"/>
                <a:cs typeface="Times New Roman"/>
                <a:sym typeface="Arimo Bold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95120C6A-C7FC-6284-2C50-F3A44B1C23F3}"/>
              </a:ext>
            </a:extLst>
          </p:cNvPr>
          <p:cNvSpPr txBox="1"/>
          <p:nvPr/>
        </p:nvSpPr>
        <p:spPr>
          <a:xfrm>
            <a:off x="4068815" y="9030439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endParaRPr lang="en-IN" sz="2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447C519-C4CC-78CE-8B2D-026A2A2D8F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2409977"/>
            <a:ext cx="12344400" cy="5988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8099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0CFAE-AD6D-1A1B-8415-FE64C88CE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8D827D7-5F4B-2476-AB79-214046987E73}"/>
              </a:ext>
            </a:extLst>
          </p:cNvPr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0A252832-991A-0852-E936-69FEC085295C}"/>
                </a:ext>
              </a:extLst>
            </p:cNvPr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DD0A7D34-21B0-D2A5-D592-3E734DD80B81}"/>
                  </a:ext>
                </a:extLst>
              </p:cNvPr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49B6A80B-F3C5-EC98-52C3-C28485A7C36A}"/>
                </a:ext>
              </a:extLst>
            </p:cNvPr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21F7AAAE-FCF3-3D6D-450C-1E0FD208079E}"/>
                  </a:ext>
                </a:extLst>
              </p:cNvPr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BABE4F57-B041-8664-1002-C5E0953A43CD}"/>
                </a:ext>
              </a:extLst>
            </p:cNvPr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9AB6EA79-A7A5-DE0B-D950-6E426667DED3}"/>
                  </a:ext>
                </a:extLst>
              </p:cNvPr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BE6B8C97-7EE8-4CFD-3FD5-8B207205951C}"/>
              </a:ext>
            </a:extLst>
          </p:cNvPr>
          <p:cNvGrpSpPr/>
          <p:nvPr/>
        </p:nvGrpSpPr>
        <p:grpSpPr>
          <a:xfrm>
            <a:off x="772325" y="721474"/>
            <a:ext cx="7868490" cy="1108105"/>
            <a:chOff x="0" y="0"/>
            <a:chExt cx="10491320" cy="147747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B745C33F-4268-CB88-2037-7DDCC3F5DEC8}"/>
                </a:ext>
              </a:extLst>
            </p:cNvPr>
            <p:cNvSpPr/>
            <p:nvPr/>
          </p:nvSpPr>
          <p:spPr>
            <a:xfrm>
              <a:off x="0" y="0"/>
              <a:ext cx="9975848" cy="1298178"/>
            </a:xfrm>
            <a:custGeom>
              <a:avLst/>
              <a:gdLst/>
              <a:ahLst/>
              <a:cxnLst/>
              <a:rect l="l" t="t" r="r" b="b"/>
              <a:pathLst>
                <a:path w="9975848" h="1298178">
                  <a:moveTo>
                    <a:pt x="0" y="0"/>
                  </a:moveTo>
                  <a:lnTo>
                    <a:pt x="9975848" y="0"/>
                  </a:lnTo>
                  <a:lnTo>
                    <a:pt x="9975848" y="1298178"/>
                  </a:lnTo>
                  <a:lnTo>
                    <a:pt x="0" y="12981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F376621C-A5CA-81D0-D317-8D7A9920E24B}"/>
                </a:ext>
              </a:extLst>
            </p:cNvPr>
            <p:cNvSpPr txBox="1"/>
            <p:nvPr/>
          </p:nvSpPr>
          <p:spPr>
            <a:xfrm>
              <a:off x="515471" y="160244"/>
              <a:ext cx="9975849" cy="131722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759"/>
                </a:lnSpc>
              </a:pPr>
              <a:r>
                <a:rPr lang="en-US" sz="4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Screenshot </a:t>
              </a:r>
              <a:endParaRPr lang="en-US" sz="4800" b="1" dirty="0">
                <a:solidFill>
                  <a:srgbClr val="464646"/>
                </a:solidFill>
                <a:latin typeface="Times New Roman"/>
                <a:ea typeface="Arimo Bold"/>
                <a:cs typeface="Times New Roman"/>
                <a:sym typeface="Arimo Bold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D103747-F2F6-C197-F2B6-2977AE000AC4}"/>
              </a:ext>
            </a:extLst>
          </p:cNvPr>
          <p:cNvSpPr txBox="1"/>
          <p:nvPr/>
        </p:nvSpPr>
        <p:spPr>
          <a:xfrm>
            <a:off x="7394200" y="8884023"/>
            <a:ext cx="349959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Audio</a:t>
            </a:r>
            <a:endParaRPr lang="en-US" sz="2800" dirty="0">
              <a:latin typeface="Times New Roman"/>
              <a:ea typeface="Calibri"/>
              <a:cs typeface="Calibri"/>
            </a:endParaRPr>
          </a:p>
        </p:txBody>
      </p:sp>
      <p:pic>
        <p:nvPicPr>
          <p:cNvPr id="12" name="Content Placeholder 7">
            <a:extLst>
              <a:ext uri="{FF2B5EF4-FFF2-40B4-BE49-F238E27FC236}">
                <a16:creationId xmlns:a16="http://schemas.microsoft.com/office/drawing/2014/main" id="{D00C123F-8362-DABF-92C8-8447D7CB5B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0" y="2578815"/>
            <a:ext cx="11277599" cy="6182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6874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0CFAE-AD6D-1A1B-8415-FE64C88CE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8D827D7-5F4B-2476-AB79-214046987E73}"/>
              </a:ext>
            </a:extLst>
          </p:cNvPr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0A252832-991A-0852-E936-69FEC085295C}"/>
                </a:ext>
              </a:extLst>
            </p:cNvPr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DD0A7D34-21B0-D2A5-D592-3E734DD80B81}"/>
                  </a:ext>
                </a:extLst>
              </p:cNvPr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49B6A80B-F3C5-EC98-52C3-C28485A7C36A}"/>
                </a:ext>
              </a:extLst>
            </p:cNvPr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21F7AAAE-FCF3-3D6D-450C-1E0FD208079E}"/>
                  </a:ext>
                </a:extLst>
              </p:cNvPr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BABE4F57-B041-8664-1002-C5E0953A43CD}"/>
                </a:ext>
              </a:extLst>
            </p:cNvPr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9AB6EA79-A7A5-DE0B-D950-6E426667DED3}"/>
                  </a:ext>
                </a:extLst>
              </p:cNvPr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BE6B8C97-7EE8-4CFD-3FD5-8B207205951C}"/>
              </a:ext>
            </a:extLst>
          </p:cNvPr>
          <p:cNvGrpSpPr/>
          <p:nvPr/>
        </p:nvGrpSpPr>
        <p:grpSpPr>
          <a:xfrm>
            <a:off x="772325" y="721474"/>
            <a:ext cx="7868490" cy="1108105"/>
            <a:chOff x="0" y="0"/>
            <a:chExt cx="10491320" cy="147747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B745C33F-4268-CB88-2037-7DDCC3F5DEC8}"/>
                </a:ext>
              </a:extLst>
            </p:cNvPr>
            <p:cNvSpPr/>
            <p:nvPr/>
          </p:nvSpPr>
          <p:spPr>
            <a:xfrm>
              <a:off x="0" y="0"/>
              <a:ext cx="9975848" cy="1298178"/>
            </a:xfrm>
            <a:custGeom>
              <a:avLst/>
              <a:gdLst/>
              <a:ahLst/>
              <a:cxnLst/>
              <a:rect l="l" t="t" r="r" b="b"/>
              <a:pathLst>
                <a:path w="9975848" h="1298178">
                  <a:moveTo>
                    <a:pt x="0" y="0"/>
                  </a:moveTo>
                  <a:lnTo>
                    <a:pt x="9975848" y="0"/>
                  </a:lnTo>
                  <a:lnTo>
                    <a:pt x="9975848" y="1298178"/>
                  </a:lnTo>
                  <a:lnTo>
                    <a:pt x="0" y="12981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F376621C-A5CA-81D0-D317-8D7A9920E24B}"/>
                </a:ext>
              </a:extLst>
            </p:cNvPr>
            <p:cNvSpPr txBox="1"/>
            <p:nvPr/>
          </p:nvSpPr>
          <p:spPr>
            <a:xfrm>
              <a:off x="515471" y="160244"/>
              <a:ext cx="9975849" cy="131722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759"/>
                </a:lnSpc>
              </a:pPr>
              <a:r>
                <a:rPr lang="en-US" sz="4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Screenshot </a:t>
              </a:r>
              <a:endParaRPr lang="en-US" sz="4800" b="1" dirty="0">
                <a:solidFill>
                  <a:srgbClr val="464646"/>
                </a:solidFill>
                <a:latin typeface="Times New Roman"/>
                <a:ea typeface="Arimo Bold"/>
                <a:cs typeface="Times New Roman"/>
                <a:sym typeface="Arimo Bold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D103747-F2F6-C197-F2B6-2977AE000AC4}"/>
              </a:ext>
            </a:extLst>
          </p:cNvPr>
          <p:cNvSpPr txBox="1"/>
          <p:nvPr/>
        </p:nvSpPr>
        <p:spPr>
          <a:xfrm>
            <a:off x="7394200" y="8884023"/>
            <a:ext cx="349959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Audio</a:t>
            </a:r>
            <a:endParaRPr lang="en-US" sz="2800" dirty="0">
              <a:latin typeface="Times New Roman"/>
              <a:ea typeface="Calibri"/>
              <a:cs typeface="Calibri"/>
            </a:endParaRPr>
          </a:p>
        </p:txBody>
      </p:sp>
      <p:pic>
        <p:nvPicPr>
          <p:cNvPr id="13" name="Content Placeholder 6">
            <a:extLst>
              <a:ext uri="{FF2B5EF4-FFF2-40B4-BE49-F238E27FC236}">
                <a16:creationId xmlns:a16="http://schemas.microsoft.com/office/drawing/2014/main" id="{256DC213-EF42-E592-171D-18E45238E2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2823794"/>
            <a:ext cx="10491222" cy="5139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7921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1138303" y="-194525"/>
            <a:ext cx="16416403" cy="2025968"/>
            <a:chOff x="0" y="-19051"/>
            <a:chExt cx="21888537" cy="270129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42400" cy="2682240"/>
            </a:xfrm>
            <a:custGeom>
              <a:avLst/>
              <a:gdLst/>
              <a:ahLst/>
              <a:cxnLst/>
              <a:rect l="l" t="t" r="r" b="b"/>
              <a:pathLst>
                <a:path w="21742400" h="2682240">
                  <a:moveTo>
                    <a:pt x="0" y="0"/>
                  </a:moveTo>
                  <a:lnTo>
                    <a:pt x="21742400" y="0"/>
                  </a:lnTo>
                  <a:lnTo>
                    <a:pt x="2174240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6137" y="-19051"/>
              <a:ext cx="21742400" cy="2701291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759"/>
                </a:lnSpc>
              </a:pPr>
              <a:r>
                <a:rPr lang="en-US" sz="4800" b="1" dirty="0">
                  <a:solidFill>
                    <a:srgbClr val="464646"/>
                  </a:solidFill>
                  <a:latin typeface="Times New Roman"/>
                  <a:ea typeface="Arimo Bold"/>
                  <a:cs typeface="Times New Roman"/>
                  <a:sym typeface="Arimo Bold"/>
                </a:rPr>
                <a:t>Literature Survey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EFBB9F28-9706-E307-F3AC-BA06B100C6A7}"/>
              </a:ext>
            </a:extLst>
          </p:cNvPr>
          <p:cNvSpPr txBox="1"/>
          <p:nvPr/>
        </p:nvSpPr>
        <p:spPr>
          <a:xfrm>
            <a:off x="1247906" y="2479619"/>
            <a:ext cx="10105894" cy="5647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Methods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CNN-based models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spectrogram features for deepfake detection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Handcrafted features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(e.g., MFCC) used in traditional approaches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Self-supervised learning models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extract advanced speech representations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models (CNN + LSTM)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 detection performance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CACB0-20BB-D83A-4136-4D048947E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9EB6004-489B-847F-A49A-131D18448B6C}"/>
              </a:ext>
            </a:extLst>
          </p:cNvPr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B917EE30-B858-C841-32A6-215A83B2D09D}"/>
                </a:ext>
              </a:extLst>
            </p:cNvPr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544C207D-07B8-5A93-F030-704E42B1AC1F}"/>
                  </a:ext>
                </a:extLst>
              </p:cNvPr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5CDA7515-DA10-4F1C-E68B-D898840F4FF5}"/>
                </a:ext>
              </a:extLst>
            </p:cNvPr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A5383876-9E9A-5B1D-164C-55B0334D9695}"/>
                  </a:ext>
                </a:extLst>
              </p:cNvPr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10C680AF-BCB8-1174-E765-B28A4CF9D50C}"/>
                </a:ext>
              </a:extLst>
            </p:cNvPr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3ADB242D-D4C1-EA93-D6A1-5A8EB13F28FB}"/>
                  </a:ext>
                </a:extLst>
              </p:cNvPr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7222B16D-D565-958A-BCB5-126D350FC481}"/>
              </a:ext>
            </a:extLst>
          </p:cNvPr>
          <p:cNvGrpSpPr/>
          <p:nvPr/>
        </p:nvGrpSpPr>
        <p:grpSpPr>
          <a:xfrm>
            <a:off x="1138303" y="-194525"/>
            <a:ext cx="16416403" cy="2025968"/>
            <a:chOff x="0" y="-19051"/>
            <a:chExt cx="21888537" cy="2701291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65589DB2-BE54-2CED-EF18-69B5A3BFBC3F}"/>
                </a:ext>
              </a:extLst>
            </p:cNvPr>
            <p:cNvSpPr/>
            <p:nvPr/>
          </p:nvSpPr>
          <p:spPr>
            <a:xfrm>
              <a:off x="0" y="0"/>
              <a:ext cx="21742400" cy="2682240"/>
            </a:xfrm>
            <a:custGeom>
              <a:avLst/>
              <a:gdLst/>
              <a:ahLst/>
              <a:cxnLst/>
              <a:rect l="l" t="t" r="r" b="b"/>
              <a:pathLst>
                <a:path w="21742400" h="2682240">
                  <a:moveTo>
                    <a:pt x="0" y="0"/>
                  </a:moveTo>
                  <a:lnTo>
                    <a:pt x="21742400" y="0"/>
                  </a:lnTo>
                  <a:lnTo>
                    <a:pt x="2174240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20F74057-A60A-36B1-02B6-6F218F728312}"/>
                </a:ext>
              </a:extLst>
            </p:cNvPr>
            <p:cNvSpPr txBox="1"/>
            <p:nvPr/>
          </p:nvSpPr>
          <p:spPr>
            <a:xfrm>
              <a:off x="146137" y="-19051"/>
              <a:ext cx="21742400" cy="2701291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759"/>
                </a:lnSpc>
              </a:pPr>
              <a:r>
                <a:rPr lang="en-US" sz="4800" b="1" dirty="0">
                  <a:solidFill>
                    <a:srgbClr val="464646"/>
                  </a:solidFill>
                  <a:latin typeface="Times New Roman"/>
                  <a:ea typeface="Arimo Bold"/>
                  <a:cs typeface="Times New Roman"/>
                  <a:sym typeface="Arimo Bold"/>
                </a:rPr>
                <a:t>Literature Survey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B1AE34D3-06D7-1BE8-3CBB-38E50A3680A9}"/>
              </a:ext>
            </a:extLst>
          </p:cNvPr>
          <p:cNvSpPr txBox="1"/>
          <p:nvPr/>
        </p:nvSpPr>
        <p:spPr>
          <a:xfrm>
            <a:off x="1247906" y="2474622"/>
            <a:ext cx="9144000" cy="3523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Identified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generalization to unseen datasets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 computational complexity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Inability to capture temporal dependencies effectively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Reduced performance in real-time applications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51FCBE-8EB6-4C2D-70E3-7ED9600AC264}"/>
              </a:ext>
            </a:extLst>
          </p:cNvPr>
          <p:cNvSpPr txBox="1"/>
          <p:nvPr/>
        </p:nvSpPr>
        <p:spPr>
          <a:xfrm>
            <a:off x="1247906" y="6531637"/>
            <a:ext cx="12496800" cy="2230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Need for 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lightweight, generalizable, and real-time deepfake audio detection system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advanced feature extraction and temporal modeling</a:t>
            </a:r>
          </a:p>
        </p:txBody>
      </p:sp>
    </p:spTree>
    <p:extLst>
      <p:ext uri="{BB962C8B-B14F-4D97-AF65-F5344CB8AC3E}">
        <p14:creationId xmlns:p14="http://schemas.microsoft.com/office/powerpoint/2010/main" val="19972320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1028700" y="654535"/>
            <a:ext cx="6271173" cy="1175341"/>
            <a:chOff x="0" y="0"/>
            <a:chExt cx="8361564" cy="15671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59859" cy="1298178"/>
            </a:xfrm>
            <a:custGeom>
              <a:avLst/>
              <a:gdLst/>
              <a:ahLst/>
              <a:cxnLst/>
              <a:rect l="l" t="t" r="r" b="b"/>
              <a:pathLst>
                <a:path w="8159859" h="1298178">
                  <a:moveTo>
                    <a:pt x="0" y="0"/>
                  </a:moveTo>
                  <a:lnTo>
                    <a:pt x="8159859" y="0"/>
                  </a:lnTo>
                  <a:lnTo>
                    <a:pt x="8159859" y="1298178"/>
                  </a:lnTo>
                  <a:lnTo>
                    <a:pt x="0" y="12981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1705" y="249891"/>
              <a:ext cx="8159859" cy="131722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759"/>
                </a:lnSpc>
              </a:pPr>
              <a:r>
                <a:rPr lang="en-US" sz="4800" b="1" dirty="0">
                  <a:solidFill>
                    <a:srgbClr val="464646"/>
                  </a:solidFill>
                  <a:latin typeface="Times New Roman"/>
                  <a:ea typeface="Arimo Bold"/>
                  <a:cs typeface="Times New Roman"/>
                  <a:sym typeface="Arimo Bold"/>
                </a:rPr>
                <a:t>References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93839" y="2615109"/>
            <a:ext cx="16861460" cy="7725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6520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Ritushree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bohara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Amit kumar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bairwa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"Detecting Deepfake Audio Using</a:t>
            </a:r>
            <a:r>
              <a:rPr lang="en-I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pectrogram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MachineLearning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Approaches", vol. 13, pp. 149478-149489, Aug. 2025</a:t>
            </a:r>
          </a:p>
          <a:p>
            <a:pPr marL="96520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A. Hamza, A. R. Javed, F. Iqbal, N.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Kryvinska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S.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Almadhor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Z. Jalil, and R.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Borghol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“Deepfake Audio Detection via MFCC Features Using Machine Learning,” IEEE Access, vol. 10, pp. 134018–134028, 2022</a:t>
            </a:r>
          </a:p>
          <a:p>
            <a:pPr marL="96520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T. M. Wani, S. A. A. Qadri, D.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Comminiello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I.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Amerini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“Detecting Audio Deepfakes: Integrating CNN and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Multi-Feature Concatenation,” in Proc. ACM Workshop on Information Hiding and Multimedia Security (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IH&amp;MMSec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’24), 2024, pp. 271–276.S. </a:t>
            </a:r>
          </a:p>
          <a:p>
            <a:pPr marL="96520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Al-Halabi and A.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Kafri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“Audio Deepfake Detection Using a Hybrid Model of Convolutional and Bidirectional Long Short-Term Memory Networks,” Adv. Appl. Sci., vol. 11, no. 1, pp. 1–7, Jan. 2026.</a:t>
            </a:r>
          </a:p>
          <a:p>
            <a:pPr marL="96520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N.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Babiker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Mohammed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Babiker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“Deepfake Audio Detection in Voice Authentication: A Spectral and CNN-Based Comprehensive Review,” Eng. Technol. Appl. Sci. Res., vol. 15, no. 6, pp. 29824–29832, Dec. 2025</a:t>
            </a:r>
          </a:p>
          <a:p>
            <a:pPr marL="742950" indent="-742950">
              <a:buFont typeface="+mj-lt"/>
              <a:buAutoNum type="arabicPeriod"/>
            </a:pPr>
            <a:endParaRPr lang="en-IN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F256D-AF77-9EB0-C925-E95A288CF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3B897C0-A161-8801-8CE4-BA4A5EBC36DF}"/>
              </a:ext>
            </a:extLst>
          </p:cNvPr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AA86D383-AF93-568B-056F-CE30D0DB8CD4}"/>
                </a:ext>
              </a:extLst>
            </p:cNvPr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8CB12EA0-6D16-2FBD-A97D-AD5E08653C2D}"/>
                  </a:ext>
                </a:extLst>
              </p:cNvPr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33685CD5-4C90-1EE3-4A54-79BECFDC63C8}"/>
                </a:ext>
              </a:extLst>
            </p:cNvPr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F59A7E1D-F875-CB6E-E134-FDB01DC1C758}"/>
                  </a:ext>
                </a:extLst>
              </p:cNvPr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D6EAE02C-513E-FF41-C732-833682967D0B}"/>
                </a:ext>
              </a:extLst>
            </p:cNvPr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5464B213-6B58-1C1C-033A-6CD9BD0DAAAC}"/>
                  </a:ext>
                </a:extLst>
              </p:cNvPr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7B39164D-9E8A-7B2D-5259-DB92DF9B0557}"/>
              </a:ext>
            </a:extLst>
          </p:cNvPr>
          <p:cNvGrpSpPr/>
          <p:nvPr/>
        </p:nvGrpSpPr>
        <p:grpSpPr>
          <a:xfrm>
            <a:off x="1028700" y="654535"/>
            <a:ext cx="6271173" cy="1175341"/>
            <a:chOff x="0" y="0"/>
            <a:chExt cx="8361564" cy="156712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60024D2A-D75B-307B-730C-596F177E7986}"/>
                </a:ext>
              </a:extLst>
            </p:cNvPr>
            <p:cNvSpPr/>
            <p:nvPr/>
          </p:nvSpPr>
          <p:spPr>
            <a:xfrm>
              <a:off x="0" y="0"/>
              <a:ext cx="8159859" cy="1298178"/>
            </a:xfrm>
            <a:custGeom>
              <a:avLst/>
              <a:gdLst/>
              <a:ahLst/>
              <a:cxnLst/>
              <a:rect l="l" t="t" r="r" b="b"/>
              <a:pathLst>
                <a:path w="8159859" h="1298178">
                  <a:moveTo>
                    <a:pt x="0" y="0"/>
                  </a:moveTo>
                  <a:lnTo>
                    <a:pt x="8159859" y="0"/>
                  </a:lnTo>
                  <a:lnTo>
                    <a:pt x="8159859" y="1298178"/>
                  </a:lnTo>
                  <a:lnTo>
                    <a:pt x="0" y="12981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0AB58AA7-7C7A-D3C0-74B1-F2B585C614E3}"/>
                </a:ext>
              </a:extLst>
            </p:cNvPr>
            <p:cNvSpPr txBox="1"/>
            <p:nvPr/>
          </p:nvSpPr>
          <p:spPr>
            <a:xfrm>
              <a:off x="201705" y="249891"/>
              <a:ext cx="8159859" cy="131722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759"/>
                </a:lnSpc>
              </a:pPr>
              <a:r>
                <a:rPr lang="en-US" sz="4800" b="1" dirty="0">
                  <a:solidFill>
                    <a:srgbClr val="464646"/>
                  </a:solidFill>
                  <a:latin typeface="Times New Roman"/>
                  <a:ea typeface="Arimo Bold"/>
                  <a:cs typeface="Times New Roman"/>
                  <a:sym typeface="Arimo Bold"/>
                </a:rPr>
                <a:t>References</a:t>
              </a: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22DC5766-F3D3-DA23-534A-0095B60CF61B}"/>
              </a:ext>
            </a:extLst>
          </p:cNvPr>
          <p:cNvSpPr txBox="1"/>
          <p:nvPr/>
        </p:nvSpPr>
        <p:spPr>
          <a:xfrm>
            <a:off x="1093839" y="2615109"/>
            <a:ext cx="16861460" cy="6385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6"/>
            </a:pPr>
            <a:r>
              <a:rPr lang="en-US" sz="2800" dirty="0" err="1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Baoping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 Liu, Bo Liu,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Tianqing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 Zhu, Ming Ding, </a:t>
            </a:r>
            <a:r>
              <a:rPr lang="en-US" sz="2800" i="1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A Review of Deepfake and Its Detection: From Generative Adversarial Networks to Diffusion Models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, International Journal of Intelligent Systems, 2025.</a:t>
            </a:r>
            <a:endParaRPr lang="en-US" sz="2800" dirty="0">
              <a:solidFill>
                <a:srgbClr val="000000"/>
              </a:solidFill>
              <a:latin typeface="Times New Roman"/>
              <a:ea typeface="+mn-lt"/>
              <a:cs typeface="+mn-lt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 startAt="6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David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Ghiurău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, Daniela Elena Popescu, </a:t>
            </a:r>
            <a:r>
              <a:rPr lang="en-US" sz="2800" i="1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Distinguishing Reality from AI: Approaches for Detecting Synthetic Content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, Computers (MDPI), 2025.</a:t>
            </a:r>
            <a:endParaRPr lang="en-US" sz="2800" dirty="0">
              <a:latin typeface="Times New Roman"/>
              <a:ea typeface="+mn-lt"/>
              <a:cs typeface="+mn-lt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 startAt="6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Sarah Tipper, Hany F.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Atlam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, Harjinder Singh Lallie, </a:t>
            </a:r>
            <a:r>
              <a:rPr lang="en-US" sz="2800" i="1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An Investigation into the </a:t>
            </a:r>
            <a:r>
              <a:rPr lang="en-US" sz="2800" i="1" dirty="0" err="1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Utilisation</a:t>
            </a:r>
            <a:r>
              <a:rPr lang="en-US" sz="2800" i="1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 of CNN with LSTM for Video Deepfake Detection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, Applied Sciences, 2024.</a:t>
            </a:r>
            <a:endParaRPr lang="en-US" sz="2800" dirty="0">
              <a:latin typeface="Times New Roman"/>
              <a:ea typeface="+mn-lt"/>
              <a:cs typeface="+mn-lt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 startAt="6"/>
            </a:pPr>
            <a:r>
              <a:rPr lang="en-US" sz="2800" dirty="0" err="1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Achhardeep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 Kaur, Azadeh Noori Hoshyar, Vidya Saikrishna, Selena Firmin, Feng Xia, </a:t>
            </a:r>
            <a:r>
              <a:rPr lang="en-US" sz="2800" i="1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Deepfake Video Detection: Challenges and Opportunities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, Artificial Intelligence Review, 2024.</a:t>
            </a:r>
            <a:endParaRPr lang="en-US" sz="2800" dirty="0">
              <a:latin typeface="Times New Roman"/>
              <a:ea typeface="+mn-lt"/>
              <a:cs typeface="+mn-lt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 startAt="6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Zekun Sun, Na Ruan, Jianhua Li, </a:t>
            </a:r>
            <a:r>
              <a:rPr lang="en-US" sz="2800" i="1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DDL: Effective and Comprehensible Interpretation Framework for Diverse Deepfake Detectors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, IEEE Transactions on Information Forensics and Security, 2025.</a:t>
            </a:r>
            <a:endParaRPr lang="en-US" sz="2800" dirty="0">
              <a:latin typeface="Times New Roman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237450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190340"/>
            <a:ext cx="18288000" cy="480060"/>
            <a:chOff x="0" y="0"/>
            <a:chExt cx="24384000" cy="64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640080"/>
            </a:xfrm>
            <a:custGeom>
              <a:avLst/>
              <a:gdLst/>
              <a:ahLst/>
              <a:cxnLst/>
              <a:rect l="l" t="t" r="r" b="b"/>
              <a:pathLst>
                <a:path w="24384000" h="640080">
                  <a:moveTo>
                    <a:pt x="0" y="0"/>
                  </a:moveTo>
                  <a:lnTo>
                    <a:pt x="24384000" y="0"/>
                  </a:lnTo>
                  <a:lnTo>
                    <a:pt x="24384000" y="640080"/>
                  </a:lnTo>
                  <a:lnTo>
                    <a:pt x="0" y="6400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2258920"/>
            <a:ext cx="1066800" cy="342900"/>
            <a:chOff x="0" y="0"/>
            <a:chExt cx="1422400" cy="457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22400" cy="457200"/>
            </a:xfrm>
            <a:custGeom>
              <a:avLst/>
              <a:gdLst/>
              <a:ahLst/>
              <a:cxnLst/>
              <a:rect l="l" t="t" r="r" b="b"/>
              <a:pathLst>
                <a:path w="1422400" h="457200">
                  <a:moveTo>
                    <a:pt x="0" y="0"/>
                  </a:moveTo>
                  <a:lnTo>
                    <a:pt x="1422400" y="0"/>
                  </a:lnTo>
                  <a:lnTo>
                    <a:pt x="14224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DA1F28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81100" y="2258920"/>
            <a:ext cx="17106900" cy="342900"/>
            <a:chOff x="0" y="0"/>
            <a:chExt cx="22809200" cy="457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809200" cy="457200"/>
            </a:xfrm>
            <a:custGeom>
              <a:avLst/>
              <a:gdLst/>
              <a:ahLst/>
              <a:cxnLst/>
              <a:rect l="l" t="t" r="r" b="b"/>
              <a:pathLst>
                <a:path w="22809200" h="457200">
                  <a:moveTo>
                    <a:pt x="0" y="0"/>
                  </a:moveTo>
                  <a:lnTo>
                    <a:pt x="22809200" y="0"/>
                  </a:lnTo>
                  <a:lnTo>
                    <a:pt x="228092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2DA2B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388360" y="4152900"/>
            <a:ext cx="10127271" cy="2684526"/>
            <a:chOff x="0" y="0"/>
            <a:chExt cx="13503028" cy="357936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503029" cy="3579368"/>
            </a:xfrm>
            <a:custGeom>
              <a:avLst/>
              <a:gdLst/>
              <a:ahLst/>
              <a:cxnLst/>
              <a:rect l="l" t="t" r="r" b="b"/>
              <a:pathLst>
                <a:path w="13503029" h="3579368">
                  <a:moveTo>
                    <a:pt x="0" y="0"/>
                  </a:moveTo>
                  <a:lnTo>
                    <a:pt x="13503029" y="0"/>
                  </a:lnTo>
                  <a:lnTo>
                    <a:pt x="13503029" y="3579368"/>
                  </a:lnTo>
                  <a:lnTo>
                    <a:pt x="0" y="35793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3503028" cy="3588893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17280"/>
                </a:lnSpc>
              </a:pPr>
              <a:r>
                <a:rPr lang="en-US" sz="1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Alice"/>
                  <a:cs typeface="Times New Roman" panose="02020603050405020304" pitchFamily="18" charset="0"/>
                  <a:sym typeface="Alice"/>
                </a:rPr>
                <a:t>Thank You 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6782261" y="7670870"/>
            <a:ext cx="5339470" cy="1342263"/>
          </a:xfrm>
          <a:custGeom>
            <a:avLst/>
            <a:gdLst/>
            <a:ahLst/>
            <a:cxnLst/>
            <a:rect l="l" t="t" r="r" b="b"/>
            <a:pathLst>
              <a:path w="7119294" h="1789684">
                <a:moveTo>
                  <a:pt x="0" y="0"/>
                </a:moveTo>
                <a:lnTo>
                  <a:pt x="7119294" y="0"/>
                </a:lnTo>
                <a:lnTo>
                  <a:pt x="7119294" y="1789684"/>
                </a:lnTo>
                <a:lnTo>
                  <a:pt x="0" y="178968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1644</Words>
  <Application>Microsoft Office PowerPoint</Application>
  <PresentationFormat>Custom</PresentationFormat>
  <Paragraphs>166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Times New Roman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FOR PBL PPT (1).pptx</dc:title>
  <dc:creator>DINESH KUMAR</dc:creator>
  <cp:lastModifiedBy>R Prem kumar</cp:lastModifiedBy>
  <cp:revision>782</cp:revision>
  <dcterms:created xsi:type="dcterms:W3CDTF">2006-08-16T00:00:00Z</dcterms:created>
  <dcterms:modified xsi:type="dcterms:W3CDTF">2026-03-18T14:44:43Z</dcterms:modified>
  <dc:identifier>DAG3nfPuQn4</dc:identifier>
</cp:coreProperties>
</file>