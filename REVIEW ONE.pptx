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1" r:id="rId6"/>
    <p:sldId id="290" r:id="rId7"/>
    <p:sldId id="291" r:id="rId8"/>
    <p:sldId id="264" r:id="rId9"/>
    <p:sldId id="265" r:id="rId10"/>
    <p:sldId id="266" r:id="rId11"/>
    <p:sldId id="267" r:id="rId12"/>
    <p:sldId id="268" r:id="rId13"/>
    <p:sldId id="269" r:id="rId14"/>
    <p:sldId id="282" r:id="rId15"/>
    <p:sldId id="289" r:id="rId16"/>
    <p:sldId id="294" r:id="rId17"/>
    <p:sldId id="295" r:id="rId18"/>
    <p:sldId id="296" r:id="rId19"/>
    <p:sldId id="297" r:id="rId20"/>
    <p:sldId id="288" r:id="rId21"/>
    <p:sldId id="298" r:id="rId22"/>
    <p:sldId id="270" r:id="rId23"/>
    <p:sldId id="273" r:id="rId24"/>
    <p:sldId id="271" r:id="rId25"/>
    <p:sldId id="292" r:id="rId26"/>
    <p:sldId id="293" r:id="rId27"/>
    <p:sldId id="272" r:id="rId2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5A556-2716-460D-B549-80D57F512006}" v="1119" dt="2026-02-02T06:41:09.775"/>
    <p1510:client id="{382E99D5-91D8-492A-98A3-5D32AAF7533D}" v="183" dt="2026-02-02T09:04:16.275"/>
    <p1510:client id="{A13AD304-A988-49BA-87A7-58CC0D55E45C}" v="422" dt="2026-02-03T06:53:01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941" autoAdjust="0"/>
  </p:normalViewPr>
  <p:slideViewPr>
    <p:cSldViewPr>
      <p:cViewPr varScale="1">
        <p:scale>
          <a:sx n="31" d="100"/>
          <a:sy n="31" d="100"/>
        </p:scale>
        <p:origin x="101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A2E7-DEA3-75FE-BB75-1B5B3C39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8DCADC-8C9A-4CF5-43F2-34BB9B5B6C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97CFE-B115-93DB-DC07-BB27631032A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B20667-A996-9C9F-C8B7-8237058AF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0FA8FF-8BD3-2ADA-D5F2-19BB3060F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5E71B-B314-9F0D-DD9C-4E570C6146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B2E17-2297-2D6B-BCDC-0FA887B60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004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11C7-2332-7536-A1BA-AB650E5D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080E31-E8C7-183E-DFEE-14A8A5D746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B585A-DD33-2B7E-E9A0-3C0CA2F66F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6F8689-98FB-DAEE-8B16-1AB8EDFC36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28ECA6A-CA89-9E06-C708-C8723C068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A2A52-7121-E7D7-ACBF-2CF5445E98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E3DB0-C295-746C-BEC0-0A07C413C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6696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DCD4-5DDF-434C-CF5B-699C73DD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B00BC3-EA78-BDBE-F633-48C7A9810F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017CA-1942-CC6A-3247-9AF52B724E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37B8F2-6715-43A5-3A62-75509B32D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E23321-561B-F2EE-E7F8-7A916494B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EAB10-FD3E-FD4F-2A3F-E491DC743C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BB564-2999-1F68-6C95-D0214E99B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84832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F37B-5B49-E986-D8EC-19840D48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020A28-F5DF-FCBB-BF23-98A09B8E69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BE855-6A20-0A47-9224-1571333D44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B903F1-48B4-84AB-1208-B73512F19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2D0826-DE82-F40E-CCA7-03E68BA56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98447-2E1B-5B63-C6D1-3E8C3840C5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F922-A66F-6360-EF86-3BAAAF04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39665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A80E-8B59-87BA-2027-8DD2D5ED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C18B26-988D-4873-4015-D9E1257A7C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ACA56-544D-1FA7-0200-3B35698A11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2409CCB-64C0-2B79-EC83-4EB46CDFB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1389AC0-2342-B628-B12B-B0BF405D5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40CFE-D261-5E4C-39D2-C0CC77E03D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5D5E9-67C5-8DE8-AC91-34FECE858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7762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720D-0311-D468-18EB-A7ECDB6E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E9B7D2-6DEA-E32D-38D4-9F5271BF68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3334D-E4DF-6D1D-06F2-763EE23658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B7B305-6B43-0BCA-7E53-37C9F56A3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88EDEB-AAFD-2305-49B3-71C93DBE4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347C2-EED9-8C97-3CAA-EB36BDEEDC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3BFD7-4599-79F0-E91B-7EF512E5F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7415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301F-29B3-CBE1-F5C7-AFBB005B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D215DB-344C-FD50-DD6E-D46387F65B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4861E-3FCB-6384-6482-26925D0668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5389CD-68EA-A05E-48AE-CD13EE7D1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F635543-0714-A2E2-1422-98F16B51F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D63BC-5ACC-56A5-7032-EB94CC24FC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99F1F-80A6-A5C4-7EFC-C3EC7B9F8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49897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AFA7-3134-9671-D50D-44CD41B0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FC42DB-5D99-5D64-6BE9-9D71387FC0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782BC-4D87-32E3-ABE6-AD5A9A995AA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00BDF7-B819-64A8-8AD6-557E912BF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302D51-22FB-1863-5C3E-AE3E20FC0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F1D17-C4BF-5193-6E08-E4EFBFE5BD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DB0B5-4361-2460-D479-2264C5DF5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9493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5BCC-CEB9-3F55-B591-40F4CBA7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B16B05-0C58-93DF-C899-96C4813CC9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9EEF5-F30F-B4B8-97B5-F6312789D0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5DE06B-12E3-2B85-AE06-6AE330F24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4366CA8-4F87-8FE6-2A03-39BAFABBF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17FDD-1874-F65D-7A1D-30BECB1D2E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EC7DC-135A-DDB6-A1C1-1C2DE04C3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312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9EC6-7A9C-960B-EBA0-DC44A4AC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05E6E9-4CEF-FB97-D3E0-211052F1CB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392E0-34D3-1D8E-43D2-05D3FAB9D9A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B8C96AB-EE4C-7EB7-0D08-571751E6F7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8C78697-A36E-5E1E-E9F2-341E1C644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BAC48-5485-3E43-D7AD-C3469870BC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2C491-4CC2-75B2-10C3-2869E6E7C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62993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C17-6607-447F-FDB4-138C2D02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5A6CF-26BD-2A29-47BC-0BF2D61AF6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55E4F-3E39-75F7-5737-42DA19D30D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DDE852-3AB8-D3CE-7C61-A2841130F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D857B9-D136-B394-5DB3-7EFA261AA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AB22-45B8-EA45-B2AE-382E8E3933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87DF-D271-BB58-0B82-F5E24BDD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338003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2E7D-F65E-1D88-EFF7-A120C489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784061-5022-7920-9623-A9569C5589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E6812-29EB-C5D4-9192-909C5E41D5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9349FA-6773-99D0-7C28-F2E608F21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9D422D-D554-92C9-B2AF-1D159D679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695D0-FD16-F663-F245-6F95F19131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5DECE-0FB8-A53D-C5E2-574860A05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72817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BFE8-0216-7D47-3B3B-EDBA36F2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B277B9-4EC3-037A-7A44-AAD50B3D7E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08298-8E12-51F2-5D74-0726CF123D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1E9647-6D28-D705-BA0F-791A8D5EE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CFF6FD-6024-F8E6-06FC-26913F821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BA4D4-51E7-0A18-F0C5-2CDC03D259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E9A9C-BB17-DCA9-A242-81D128B54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892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956548"/>
            <a:ext cx="18288000" cy="1330452"/>
            <a:chOff x="0" y="0"/>
            <a:chExt cx="24384000" cy="1773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3936"/>
            </a:xfrm>
            <a:custGeom>
              <a:avLst/>
              <a:gdLst/>
              <a:ahLst/>
              <a:cxnLst/>
              <a:rect l="l" t="t" r="r" b="b"/>
              <a:pathLst>
                <a:path w="24384000" h="1773936">
                  <a:moveTo>
                    <a:pt x="0" y="0"/>
                  </a:moveTo>
                  <a:lnTo>
                    <a:pt x="24384000" y="0"/>
                  </a:lnTo>
                  <a:lnTo>
                    <a:pt x="24384000" y="1773936"/>
                  </a:lnTo>
                  <a:lnTo>
                    <a:pt x="0" y="1773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8288" y="9079992"/>
            <a:ext cx="4498848" cy="1069848"/>
            <a:chOff x="0" y="0"/>
            <a:chExt cx="5998464" cy="14264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98464" cy="1426464"/>
            </a:xfrm>
            <a:custGeom>
              <a:avLst/>
              <a:gdLst/>
              <a:ahLst/>
              <a:cxnLst/>
              <a:rect l="l" t="t" r="r" b="b"/>
              <a:pathLst>
                <a:path w="5998464" h="1426464">
                  <a:moveTo>
                    <a:pt x="0" y="0"/>
                  </a:moveTo>
                  <a:lnTo>
                    <a:pt x="5998464" y="0"/>
                  </a:lnTo>
                  <a:lnTo>
                    <a:pt x="599846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18304" y="9066276"/>
            <a:ext cx="13569696" cy="1069848"/>
            <a:chOff x="0" y="0"/>
            <a:chExt cx="18092928" cy="14264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92928" cy="1426464"/>
            </a:xfrm>
            <a:custGeom>
              <a:avLst/>
              <a:gdLst/>
              <a:ahLst/>
              <a:cxnLst/>
              <a:rect l="l" t="t" r="r" b="b"/>
              <a:pathLst>
                <a:path w="18092928" h="1426464">
                  <a:moveTo>
                    <a:pt x="0" y="0"/>
                  </a:moveTo>
                  <a:lnTo>
                    <a:pt x="18092928" y="0"/>
                  </a:lnTo>
                  <a:lnTo>
                    <a:pt x="180929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DA2BF"/>
            </a:solidFill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3237" y="9100566"/>
            <a:ext cx="13030200" cy="1028700"/>
            <a:chOff x="0" y="0"/>
            <a:chExt cx="17373600" cy="1371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373600" cy="1371600"/>
            </a:xfrm>
            <a:custGeom>
              <a:avLst/>
              <a:gdLst/>
              <a:ahLst/>
              <a:cxnLst/>
              <a:rect l="l" t="t" r="r" b="b"/>
              <a:pathLst>
                <a:path w="17373600" h="1371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7373600" cy="134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28"/>
                </a:lnSpc>
              </a:pPr>
              <a:r>
                <a:rPr lang="en-US" sz="4100" dirty="0">
                  <a:solidFill>
                    <a:srgbClr val="FFFFFF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TEAM NO.02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2234512" y="806914"/>
            <a:ext cx="1560192" cy="1248154"/>
          </a:xfrm>
          <a:custGeom>
            <a:avLst/>
            <a:gdLst/>
            <a:ahLst/>
            <a:cxnLst/>
            <a:rect l="l" t="t" r="r" b="b"/>
            <a:pathLst>
              <a:path w="1560192" h="1248154">
                <a:moveTo>
                  <a:pt x="0" y="0"/>
                </a:moveTo>
                <a:lnTo>
                  <a:pt x="1560192" y="0"/>
                </a:lnTo>
                <a:lnTo>
                  <a:pt x="1560192" y="1248154"/>
                </a:lnTo>
                <a:lnTo>
                  <a:pt x="0" y="1248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1160" y="7143876"/>
            <a:ext cx="6507074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Ms.M.PARVATHI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Professor/AI&amp;DS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09201" y="6455597"/>
            <a:ext cx="6507074" cy="25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ARAVINDHAN A(22AI002)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MADHAN V (22AI025)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PREM KUMAR R (22AI039)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1136" y="3451793"/>
            <a:ext cx="14106843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8"/>
              </a:lnSpc>
              <a:spcBef>
                <a:spcPct val="0"/>
              </a:spcBef>
            </a:pPr>
            <a:r>
              <a:rPr lang="en-IN" sz="4500" b="1" dirty="0">
                <a:solidFill>
                  <a:srgbClr val="DA1F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Detection Using </a:t>
            </a:r>
            <a:r>
              <a:rPr lang="en-IN" sz="4500" b="1" dirty="0" err="1">
                <a:solidFill>
                  <a:srgbClr val="DA1F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dirty="0">
              <a:solidFill>
                <a:srgbClr val="DA1F28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24228" y="809625"/>
            <a:ext cx="10853558" cy="87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899" dirty="0">
                <a:solidFill>
                  <a:srgbClr val="464646"/>
                </a:solidFill>
                <a:latin typeface="Times New Roman" panose="02020603050405020304" pitchFamily="18" charset="0"/>
                <a:ea typeface="Alice"/>
                <a:cs typeface="Times New Roman" panose="02020603050405020304" pitchFamily="18" charset="0"/>
                <a:sym typeface="Alice"/>
              </a:rPr>
              <a:t>NANDHA ENGINEERING COLLEGE ERODE – 52 (AUTONOMOUS)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988052" y="9100566"/>
            <a:ext cx="13030200" cy="1028700"/>
            <a:chOff x="0" y="0"/>
            <a:chExt cx="17373600" cy="1371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73600" cy="1371600"/>
            </a:xfrm>
            <a:custGeom>
              <a:avLst/>
              <a:gdLst/>
              <a:ahLst/>
              <a:cxnLst/>
              <a:rect l="l" t="t" r="r" b="b"/>
              <a:pathLst>
                <a:path w="17373600" h="1371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7373600" cy="134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28"/>
                </a:lnSpc>
              </a:pPr>
              <a:r>
                <a:rPr lang="en-US" sz="4100" dirty="0">
                  <a:solidFill>
                    <a:srgbClr val="FFFFFF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 Project – 1st Review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265245" y="9142571"/>
            <a:ext cx="13030200" cy="100726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428"/>
              </a:lnSpc>
            </a:pPr>
            <a:endParaRPr lang="en-US" sz="4100" dirty="0">
              <a:solidFill>
                <a:srgbClr val="FFFFFF"/>
              </a:solidFill>
              <a:latin typeface="Times New Roman" panose="02020603050405020304" pitchFamily="18" charset="0"/>
              <a:ea typeface="Arimo"/>
              <a:cs typeface="Times New Roman" panose="02020603050405020304" pitchFamily="18" charset="0"/>
              <a:sym typeface="Arim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924228" y="1624202"/>
            <a:ext cx="10853558" cy="4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899" dirty="0">
                <a:solidFill>
                  <a:srgbClr val="464646"/>
                </a:solidFill>
                <a:latin typeface="Times New Roman" panose="02020603050405020304" pitchFamily="18" charset="0"/>
                <a:ea typeface="Alice"/>
                <a:cs typeface="Times New Roman" panose="02020603050405020304" pitchFamily="18" charset="0"/>
                <a:sym typeface="Alice"/>
              </a:rPr>
              <a:t>Department of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97598" y="-195894"/>
            <a:ext cx="16479033" cy="2027337"/>
            <a:chOff x="-229644" y="0"/>
            <a:chExt cx="21972044" cy="2703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29644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Contents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67934" y="2317705"/>
            <a:ext cx="10633521" cy="684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Introduction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Objective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Literature Survey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</a:rPr>
              <a:t>Problem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</a:rPr>
              <a:t>Description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Proposed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 Methodology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Software Tools Used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</a:rPr>
              <a:t>Module Implementation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Screenshots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Atkinson Hyperlegible"/>
                <a:cs typeface="Times New Roman"/>
                <a:sym typeface="Atkinson Hyperlegible"/>
              </a:rPr>
              <a:t>References</a:t>
            </a:r>
            <a:endParaRPr lang="en-US" sz="2800" dirty="0">
              <a:solidFill>
                <a:srgbClr val="000000"/>
              </a:solidFill>
              <a:latin typeface="Times New Roman"/>
              <a:ea typeface="Atkinson Hyperlegible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5275" y="-195894"/>
            <a:ext cx="16306800" cy="2011680"/>
            <a:chOff x="0" y="0"/>
            <a:chExt cx="2174240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742400" cy="27012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Introduction</a:t>
              </a:r>
            </a:p>
          </p:txBody>
        </p:sp>
      </p:grpSp>
      <p:sp>
        <p:nvSpPr>
          <p:cNvPr id="16" name="Rectangle 4">
            <a:extLst>
              <a:ext uri="{FF2B5EF4-FFF2-40B4-BE49-F238E27FC236}">
                <a16:creationId xmlns:a16="http://schemas.microsoft.com/office/drawing/2014/main" id="{48443C34-86AB-F6A3-CEA1-387D8A296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" y="2550739"/>
            <a:ext cx="1749552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Audio deepfakes have become a serious threat due to advances in AI-based speech synthesis and voice conversion.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Synthetic audio can closely mimic real human voices, enabling fraud, misinformation, and identity theft.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Traditional audio verification methods are ineffective against advanced deepfake techniques.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An automated and intelligent detection system is therefore required.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This project proposes an AI-based audio deepfake detection system using a CNN–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MFCC features are used to capture distinguishing speech patterns.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system is deployed as an interactive web application for real-world applications such as media verification,          cybersecurity, and forensic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247905" y="-195894"/>
            <a:ext cx="16306800" cy="2011680"/>
            <a:chOff x="0" y="0"/>
            <a:chExt cx="2174240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742400" cy="27012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ct val="150000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Objective</a:t>
              </a:r>
              <a:endParaRPr lang="en-US" dirty="0"/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716CCF5D-F804-712B-BA9F-22528771E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2462755"/>
            <a:ext cx="1760220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deepfakes have become a serious threat due to advances in AI-based speech synthesis and voice conversion.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Synthetic audio can closely mimic real human voices, enabling fraud, misinformation, and identity theft.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audio verification methods are ineffective against advanced deepfake techniques.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and intelligent detection system is therefore required.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AI-based audio deepfake detection system using a CNN–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MFCC features are used to capture distinguishing speech patterns.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deployed as an interactive web application for real-world applications such as media verification, cybersecurity, and forensic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28700" y="-509045"/>
            <a:ext cx="16432060" cy="2340488"/>
            <a:chOff x="0" y="0"/>
            <a:chExt cx="21909413" cy="31206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013" y="419360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Literature Survey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9E56C13-DF90-3715-4582-3F4EE38F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70115"/>
              </p:ext>
            </p:extLst>
          </p:nvPr>
        </p:nvGraphicFramePr>
        <p:xfrm>
          <a:off x="1025255" y="2569965"/>
          <a:ext cx="16724092" cy="7019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584">
                  <a:extLst>
                    <a:ext uri="{9D8B030D-6E8A-4147-A177-3AD203B41FA5}">
                      <a16:colId xmlns:a16="http://schemas.microsoft.com/office/drawing/2014/main" val="3874115575"/>
                    </a:ext>
                  </a:extLst>
                </a:gridCol>
                <a:gridCol w="4461113">
                  <a:extLst>
                    <a:ext uri="{9D8B030D-6E8A-4147-A177-3AD203B41FA5}">
                      <a16:colId xmlns:a16="http://schemas.microsoft.com/office/drawing/2014/main" val="2859918979"/>
                    </a:ext>
                  </a:extLst>
                </a:gridCol>
                <a:gridCol w="2787350">
                  <a:extLst>
                    <a:ext uri="{9D8B030D-6E8A-4147-A177-3AD203B41FA5}">
                      <a16:colId xmlns:a16="http://schemas.microsoft.com/office/drawing/2014/main" val="2968915810"/>
                    </a:ext>
                  </a:extLst>
                </a:gridCol>
                <a:gridCol w="1155606">
                  <a:extLst>
                    <a:ext uri="{9D8B030D-6E8A-4147-A177-3AD203B41FA5}">
                      <a16:colId xmlns:a16="http://schemas.microsoft.com/office/drawing/2014/main" val="1633660228"/>
                    </a:ext>
                  </a:extLst>
                </a:gridCol>
                <a:gridCol w="4419089">
                  <a:extLst>
                    <a:ext uri="{9D8B030D-6E8A-4147-A177-3AD203B41FA5}">
                      <a16:colId xmlns:a16="http://schemas.microsoft.com/office/drawing/2014/main" val="2206741992"/>
                    </a:ext>
                  </a:extLst>
                </a:gridCol>
                <a:gridCol w="2787350">
                  <a:extLst>
                    <a:ext uri="{9D8B030D-6E8A-4147-A177-3AD203B41FA5}">
                      <a16:colId xmlns:a16="http://schemas.microsoft.com/office/drawing/2014/main" val="389615327"/>
                    </a:ext>
                  </a:extLst>
                </a:gridCol>
              </a:tblGrid>
              <a:tr h="105055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JOURNAL &amp; AUTHOR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263845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Daeun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Song,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Nayoung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Lee,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Jiwon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Kim,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Eunjung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Choi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A Review of Deepfake and Its Detection: From Generative Adversarial Networks to Diffusion Models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</a:rPr>
                        <a:t>Provides a comprehensive review of GAN- and diffusion-based deepfake generation and detection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Survey-based study without experimental validation of detection models.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68659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Computers (MDPI)[Q2]</a:t>
                      </a:r>
                      <a:r>
                        <a:rPr lang="en-US" dirty="0">
                          <a:latin typeface="Times New Roman"/>
                        </a:rPr>
                        <a:t> – David </a:t>
                      </a:r>
                      <a:r>
                        <a:rPr lang="en-US" dirty="0" err="1">
                          <a:latin typeface="Times New Roman"/>
                        </a:rPr>
                        <a:t>Ghiurău</a:t>
                      </a:r>
                      <a:r>
                        <a:rPr lang="en-US" dirty="0">
                          <a:latin typeface="Times New Roman"/>
                        </a:rPr>
                        <a:t>, Daniela Elena Popescu</a:t>
                      </a:r>
                    </a:p>
                    <a:p>
                      <a:pPr lvl="0" algn="ctr">
                        <a:buNone/>
                      </a:pP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Distinguishing Reality from AI: Approaches for Detecting Synthetic Content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Reviews detection methods across text, image, audio, and video modalities with ethical and legal insights.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Limited focus on video-specific temporal inconsistencies.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286901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Applied Sciences[Q2]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– Sarah Tipper, Hany F.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Atlam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, Harjinder Singh Lallie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An Investigation into the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Utilisation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of CNN with LSTM for Video Deepfake Detection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Highlights the effectiveness of CNN–LSTM models for capturing spatial and temporal features.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Lacks systematic evaluation of optimal CNN–LSTM configurations.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064736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Artificial Intelligence Review[Q1]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–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Achhardeep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Kaur, Azadeh Noori Hoshyar, Vidya Saikrishna, Selena Firmin, Feng Xia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Deepfake Video Detection: Challenges and Opportunities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Thoroughly analyzes data, training, and reliability challenges in deepfake detection.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Emphasizes challenges more than proposing concrete detection solutions.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193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93A5F-139C-EF5D-B1E4-87E74E6A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58413B-9F14-C35D-CA67-EB379A3B53C0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715E6D2-C4B4-DD9D-0731-EB3BF0FB45A8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52C8DFB-9317-F7B2-3AB6-EF40A790774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FE87616-4908-347E-D37E-8D9CC46A5BCF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D0CF9A9-3A17-CA6A-B500-C9456E6D5F7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5768BD9-33CD-691F-40C4-DEC85E5024C0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B886BC1-94EF-350C-4096-946C8234839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F0918B-95D0-36E3-4677-03D6E8F2F5D0}"/>
              </a:ext>
            </a:extLst>
          </p:cNvPr>
          <p:cNvGrpSpPr/>
          <p:nvPr/>
        </p:nvGrpSpPr>
        <p:grpSpPr>
          <a:xfrm>
            <a:off x="1028700" y="-509045"/>
            <a:ext cx="16432060" cy="2340488"/>
            <a:chOff x="0" y="0"/>
            <a:chExt cx="21909413" cy="312065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53BA89-2D32-25A8-4FB4-0BA5BF885CC8}"/>
                </a:ext>
              </a:extLst>
            </p:cNvPr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1F4E18B-E586-69B9-3F7C-B0C2CE5E929D}"/>
                </a:ext>
              </a:extLst>
            </p:cNvPr>
            <p:cNvSpPr txBox="1"/>
            <p:nvPr/>
          </p:nvSpPr>
          <p:spPr>
            <a:xfrm>
              <a:off x="167013" y="419360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Literature Survey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125A2EC-0E58-FD61-AB86-6DA684D2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91114"/>
              </p:ext>
            </p:extLst>
          </p:nvPr>
        </p:nvGraphicFramePr>
        <p:xfrm>
          <a:off x="1025255" y="2569965"/>
          <a:ext cx="16724091" cy="7019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584">
                  <a:extLst>
                    <a:ext uri="{9D8B030D-6E8A-4147-A177-3AD203B41FA5}">
                      <a16:colId xmlns:a16="http://schemas.microsoft.com/office/drawing/2014/main" val="3874115575"/>
                    </a:ext>
                  </a:extLst>
                </a:gridCol>
                <a:gridCol w="4461113">
                  <a:extLst>
                    <a:ext uri="{9D8B030D-6E8A-4147-A177-3AD203B41FA5}">
                      <a16:colId xmlns:a16="http://schemas.microsoft.com/office/drawing/2014/main" val="2859918979"/>
                    </a:ext>
                  </a:extLst>
                </a:gridCol>
                <a:gridCol w="2787350">
                  <a:extLst>
                    <a:ext uri="{9D8B030D-6E8A-4147-A177-3AD203B41FA5}">
                      <a16:colId xmlns:a16="http://schemas.microsoft.com/office/drawing/2014/main" val="2968915810"/>
                    </a:ext>
                  </a:extLst>
                </a:gridCol>
                <a:gridCol w="1155605">
                  <a:extLst>
                    <a:ext uri="{9D8B030D-6E8A-4147-A177-3AD203B41FA5}">
                      <a16:colId xmlns:a16="http://schemas.microsoft.com/office/drawing/2014/main" val="1633660228"/>
                    </a:ext>
                  </a:extLst>
                </a:gridCol>
                <a:gridCol w="4419089">
                  <a:extLst>
                    <a:ext uri="{9D8B030D-6E8A-4147-A177-3AD203B41FA5}">
                      <a16:colId xmlns:a16="http://schemas.microsoft.com/office/drawing/2014/main" val="2206741992"/>
                    </a:ext>
                  </a:extLst>
                </a:gridCol>
                <a:gridCol w="2787350">
                  <a:extLst>
                    <a:ext uri="{9D8B030D-6E8A-4147-A177-3AD203B41FA5}">
                      <a16:colId xmlns:a16="http://schemas.microsoft.com/office/drawing/2014/main" val="389615327"/>
                    </a:ext>
                  </a:extLst>
                </a:gridCol>
              </a:tblGrid>
              <a:tr h="105055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JOURNAL &amp; AUTHOR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263845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IEEE Transactions on Information Forensics and Security[Q1]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– Zekun Sun, Na Ruan, Jianhua Li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DDL: Effective and Comprehensible Interpretation Framework for Diverse Deepfake Detectors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Improves interpretability of deepfake detectors across image, frequency, and video domains.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Focuses on explainability rather than detection performance improvement.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68659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IEEE Access[Q1]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– Mohammed Mouad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Melouk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, Minghao Shao, Abdul Basit,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Chaimae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Abouzahir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,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Ruilin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Zhou, Muhammad Shafique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EVDO: An Enhanced Framework for Deepfake Detection in Videos Through Optical Flow and Temporal-Spatial Analysis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</a:rPr>
                        <a:t>Combines optical flow and spatial analysis to achieve high detection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Optical-flow computation increases computational complexity.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286901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IEEE Access[Q1]</a:t>
                      </a:r>
                      <a:r>
                        <a:rPr lang="en-US" dirty="0">
                          <a:latin typeface="Times New Roman"/>
                        </a:rPr>
                        <a:t> – Peter Edwards, Jean-Christophe Nebel, Darrel Greenhill, Xing Liang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A Review of Deepfake Techniques: Architecture, Detection, and Datasets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Identifies key challenges related to architectures, datasets, and generalization.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Survey-oriented with no proposed detection framework.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064736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Alexandria Engineering Journal[Q1]</a:t>
                      </a:r>
                      <a:r>
                        <a:rPr lang="en-US" dirty="0">
                          <a:latin typeface="Times New Roman"/>
                        </a:rPr>
                        <a:t> – Mubarak </a:t>
                      </a:r>
                      <a:r>
                        <a:rPr lang="en-US" err="1">
                          <a:latin typeface="Times New Roman"/>
                        </a:rPr>
                        <a:t>Alrashoud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Deepfake Video Detection Methods, Approaches, and Challenges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Reviews visual, audio, and multimodal detection approaches with real-world challenges.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Robustness against adversarial attacks remains unresolved.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1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66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53C3-2883-CA1C-2134-1A85A83D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0A8065-17D6-AE6C-DAC2-1300BEAE1A56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7175817-6DE8-69A5-B464-D610341F1572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67A95F3-4412-2F8E-2763-69569F8AF974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02FEBFE-4614-C152-A96F-E5B91D0DC88B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B0DF998-912D-6281-5B51-140C6D16A05F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E64D8B6-AC07-D599-0FCE-8E8A0076FF07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FD27A30-AD03-30FB-F921-3C32E96DBD25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64677A1-4CF2-1695-AC38-C9E402773D26}"/>
              </a:ext>
            </a:extLst>
          </p:cNvPr>
          <p:cNvGrpSpPr/>
          <p:nvPr/>
        </p:nvGrpSpPr>
        <p:grpSpPr>
          <a:xfrm>
            <a:off x="1028700" y="-509045"/>
            <a:ext cx="16432060" cy="2340488"/>
            <a:chOff x="0" y="0"/>
            <a:chExt cx="21909413" cy="312065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D8DB6A4-5F2B-F3A5-0D90-C4C379F41DCF}"/>
                </a:ext>
              </a:extLst>
            </p:cNvPr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A56FD7C-5DB6-30BD-EAED-EC24161D4D01}"/>
                </a:ext>
              </a:extLst>
            </p:cNvPr>
            <p:cNvSpPr txBox="1"/>
            <p:nvPr/>
          </p:nvSpPr>
          <p:spPr>
            <a:xfrm>
              <a:off x="167013" y="419360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Literature Survey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340E812-5F80-57C7-91C6-68FE02D77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077890"/>
              </p:ext>
            </p:extLst>
          </p:nvPr>
        </p:nvGraphicFramePr>
        <p:xfrm>
          <a:off x="1025255" y="3117979"/>
          <a:ext cx="16724091" cy="40351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584">
                  <a:extLst>
                    <a:ext uri="{9D8B030D-6E8A-4147-A177-3AD203B41FA5}">
                      <a16:colId xmlns:a16="http://schemas.microsoft.com/office/drawing/2014/main" val="3874115575"/>
                    </a:ext>
                  </a:extLst>
                </a:gridCol>
                <a:gridCol w="4461113">
                  <a:extLst>
                    <a:ext uri="{9D8B030D-6E8A-4147-A177-3AD203B41FA5}">
                      <a16:colId xmlns:a16="http://schemas.microsoft.com/office/drawing/2014/main" val="2859918979"/>
                    </a:ext>
                  </a:extLst>
                </a:gridCol>
                <a:gridCol w="2787350">
                  <a:extLst>
                    <a:ext uri="{9D8B030D-6E8A-4147-A177-3AD203B41FA5}">
                      <a16:colId xmlns:a16="http://schemas.microsoft.com/office/drawing/2014/main" val="2968915810"/>
                    </a:ext>
                  </a:extLst>
                </a:gridCol>
                <a:gridCol w="1155605">
                  <a:extLst>
                    <a:ext uri="{9D8B030D-6E8A-4147-A177-3AD203B41FA5}">
                      <a16:colId xmlns:a16="http://schemas.microsoft.com/office/drawing/2014/main" val="1633660228"/>
                    </a:ext>
                  </a:extLst>
                </a:gridCol>
                <a:gridCol w="4419089">
                  <a:extLst>
                    <a:ext uri="{9D8B030D-6E8A-4147-A177-3AD203B41FA5}">
                      <a16:colId xmlns:a16="http://schemas.microsoft.com/office/drawing/2014/main" val="2206741992"/>
                    </a:ext>
                  </a:extLst>
                </a:gridCol>
                <a:gridCol w="2787350">
                  <a:extLst>
                    <a:ext uri="{9D8B030D-6E8A-4147-A177-3AD203B41FA5}">
                      <a16:colId xmlns:a16="http://schemas.microsoft.com/office/drawing/2014/main" val="389615327"/>
                    </a:ext>
                  </a:extLst>
                </a:gridCol>
              </a:tblGrid>
              <a:tr h="1050551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JOURNAL &amp; AUTHOR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</a:rP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263845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ICT Express[Q1]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– Rozi Khan, Muhammad Sohail, Imran Usman, </a:t>
                      </a:r>
                      <a:r>
                        <a:rPr lang="en-US" sz="1800" b="0" i="0" u="none" strike="noStrike" noProof="0" dirty="0" err="1">
                          <a:latin typeface="Times New Roman"/>
                        </a:rPr>
                        <a:t>Moid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Sandhu, Mohsin Raza, Muhammad Azfar Yaqub, Antonio Liotta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Comparative Study of Deep Learning Techniques for </a:t>
                      </a:r>
                      <a:r>
                        <a:rPr lang="en-US" sz="1800" b="0" i="0" u="none" strike="noStrike" noProof="0" err="1">
                          <a:latin typeface="Times New Roman"/>
                        </a:rPr>
                        <a:t>DeepFake</a:t>
                      </a:r>
                      <a:r>
                        <a:rPr lang="en-US" sz="1800" b="0" i="0" u="none" strike="noStrike" noProof="0" dirty="0">
                          <a:latin typeface="Times New Roman"/>
                        </a:rPr>
                        <a:t> Video Detection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Provides comparative analysis and optimization insights for deep learning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Performance heavily depends on dataset selection and tuning.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68659"/>
                  </a:ext>
                </a:extLst>
              </a:tr>
              <a:tr h="14923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Mesopotamian Journal of Cybersecurity[Q2]</a:t>
                      </a:r>
                      <a:r>
                        <a:rPr lang="en-US" dirty="0">
                          <a:latin typeface="Times New Roman"/>
                        </a:rPr>
                        <a:t> – </a:t>
                      </a:r>
                      <a:r>
                        <a:rPr lang="en-US" dirty="0" err="1">
                          <a:latin typeface="Times New Roman"/>
                        </a:rPr>
                        <a:t>Wurood</a:t>
                      </a:r>
                      <a:r>
                        <a:rPr lang="en-US" dirty="0">
                          <a:latin typeface="Times New Roman"/>
                        </a:rPr>
                        <a:t> A. Jbara, Noor Al-Huda K. Hussein, Jamila H. Soud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Deepfake Detection in Video and Audio Clips: A Comprehensive Survey and Analysis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Analyzes CNN, LSTM, and hybrid models with accuracy–efficiency trade-offs.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</a:rPr>
                        <a:t>Generalization across diverse deepfake types remains challenging.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28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1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38303" y="-194525"/>
            <a:ext cx="16416403" cy="2025968"/>
            <a:chOff x="0" y="-19051"/>
            <a:chExt cx="21888537" cy="27012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137" y="-19051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Literature Survey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35096F2-31FA-7C4C-D896-CB727F57AC70}"/>
              </a:ext>
            </a:extLst>
          </p:cNvPr>
          <p:cNvSpPr txBox="1"/>
          <p:nvPr/>
        </p:nvSpPr>
        <p:spPr>
          <a:xfrm>
            <a:off x="1136691" y="2401744"/>
            <a:ext cx="421500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latin typeface="Times New Roman"/>
                <a:ea typeface="Calibri"/>
                <a:cs typeface="Calibri"/>
              </a:rPr>
              <a:t>Research Gap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64E71-10C3-0A4D-B93E-33088B2344FC}"/>
              </a:ext>
            </a:extLst>
          </p:cNvPr>
          <p:cNvSpPr txBox="1"/>
          <p:nvPr/>
        </p:nvSpPr>
        <p:spPr>
          <a:xfrm>
            <a:off x="1129478" y="3232981"/>
            <a:ext cx="16099076" cy="64781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Most journal studies focus on surveys or comparisons without proposing an efficient end-to-end detection system, which is addressed by designing a complete AI-based video detection pipeline.</a:t>
            </a: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Existing approaches emphasize either spatial features or complex temporal models, which is overcome by jointly learning spatial and temporal patterns using a hybrid architecture.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Face-centric and modality-specific methods limit applicability to diverse video scenarios, which is resolved by performing full-frame video analysis independent of facial regions.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High computational complexity in state-of-the-art models restricts real-time deployment, which is mitigated by adopting a lightweight yet effective model design.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Poor generalization to unseen AI-generated videos is addressed by learning robust temporal inconsistencies from a balanced and diverse video dataset.</a:t>
            </a: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28700" y="-509045"/>
            <a:ext cx="16459200" cy="2251710"/>
            <a:chOff x="0" y="0"/>
            <a:chExt cx="21945600" cy="3002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200" y="300989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Problem Description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76573" y="2721555"/>
            <a:ext cx="16915954" cy="380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The rapid advancement of generative AI has enabled the creation of highly realistic AI-generated and deepfake videos.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Such videos are difficult to distinguish from real content using human observation alone</a:t>
            </a:r>
            <a:r>
              <a:rPr lang="en-US" sz="2800" u="none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Existing detection methods often rely on limited spatial or face-centric analysis.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These approaches fail to capture subtle temporal inconsistencies present in AI-generated videos.</a:t>
            </a:r>
            <a:endParaRPr lang="en-US" sz="2800" dirty="0">
              <a:latin typeface="Times New Roman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There is a need for an accurate and efficient system to reliably detect AI-generated videos in real-world scenarios.</a:t>
            </a:r>
            <a:endParaRPr lang="en-US" sz="2800" dirty="0">
              <a:latin typeface="Times New Roman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66800" y="-340990"/>
            <a:ext cx="16494691" cy="2152235"/>
            <a:chOff x="-1" y="-166531"/>
            <a:chExt cx="21992921" cy="2869647"/>
          </a:xfrm>
        </p:grpSpPr>
        <p:sp>
          <p:nvSpPr>
            <p:cNvPr id="10" name="Freeform 10"/>
            <p:cNvSpPr/>
            <p:nvPr/>
          </p:nvSpPr>
          <p:spPr>
            <a:xfrm>
              <a:off x="-1" y="-166531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0520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Proposed Methodology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75575" y="2628900"/>
            <a:ext cx="16499081" cy="380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Video frames are extracted from input video sequences </a:t>
            </a:r>
          </a:p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Each frame is resized and normalized for model compatibility </a:t>
            </a:r>
          </a:p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ResNet18 is used to extract spatial features from each frame </a:t>
            </a:r>
          </a:p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Extracted features are passed as sequences to an LSTM network </a:t>
            </a:r>
          </a:p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LSTM model find temporal dependencies across video frames </a:t>
            </a:r>
          </a:p>
          <a:p>
            <a:pPr marL="790575" lvl="1" indent="-457200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Final classification layer predicts whether the video is real or AI-generated</a:t>
            </a:r>
            <a:endParaRPr lang="en-US" sz="2800" dirty="0">
              <a:latin typeface="Times New Roman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762000" y="876300"/>
            <a:ext cx="7883650" cy="1200570"/>
            <a:chOff x="-13767" y="-19051"/>
            <a:chExt cx="10511533" cy="1600759"/>
          </a:xfrm>
        </p:grpSpPr>
        <p:sp>
          <p:nvSpPr>
            <p:cNvPr id="10" name="Freeform 10"/>
            <p:cNvSpPr/>
            <p:nvPr/>
          </p:nvSpPr>
          <p:spPr>
            <a:xfrm>
              <a:off x="-13767" y="283530"/>
              <a:ext cx="9975847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917" y="-19051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Software / Tools Used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95400" y="2511451"/>
            <a:ext cx="12631975" cy="380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Python programming language 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PyTorch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deep learning framework 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ResNet18 pretrained model 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Long Short-Term Memory (LSTM) network 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OpenCV for video processing 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NumPy for processing frames as number to model</a:t>
            </a:r>
            <a:endParaRPr lang="en-US" sz="2800" dirty="0">
              <a:latin typeface="Times New Roman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1100" y="807335"/>
            <a:ext cx="13478835" cy="1047699"/>
            <a:chOff x="0" y="-19050"/>
            <a:chExt cx="17971780" cy="1396932"/>
          </a:xfrm>
        </p:grpSpPr>
        <p:sp>
          <p:nvSpPr>
            <p:cNvPr id="10" name="Freeform 10"/>
            <p:cNvSpPr/>
            <p:nvPr/>
          </p:nvSpPr>
          <p:spPr>
            <a:xfrm>
              <a:off x="7995932" y="79703"/>
              <a:ext cx="9975848" cy="1298179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975849" cy="131722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pic>
        <p:nvPicPr>
          <p:cNvPr id="13" name="Picture 1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05A68C9F-D436-BD78-DEB9-6E98141EF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498676"/>
            <a:ext cx="11078096" cy="65648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B6DC58-2D4A-3EC9-5105-40EFB4EEA39F}"/>
              </a:ext>
            </a:extLst>
          </p:cNvPr>
          <p:cNvSpPr txBox="1"/>
          <p:nvPr/>
        </p:nvSpPr>
        <p:spPr>
          <a:xfrm>
            <a:off x="6705600" y="9198819"/>
            <a:ext cx="731520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/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1100" y="2209226"/>
            <a:ext cx="15980114" cy="832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+mn-lt"/>
                <a:cs typeface="+mn-lt"/>
              </a:rPr>
              <a:t>Module 1: Video Frame Extraction (OpenCV)</a:t>
            </a:r>
            <a:endParaRPr lang="en-US" sz="28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Objective</a:t>
            </a:r>
            <a:endParaRPr lang="en-US" sz="28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/>
                <a:ea typeface="+mn-lt"/>
                <a:cs typeface="+mn-lt"/>
              </a:rPr>
              <a:t>To convert input videos into a fixed set of representative frames suitable for deep learning processing.</a:t>
            </a:r>
            <a:endParaRPr lang="en-IN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Parameters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Frame count: 16 frames per video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Sampling method: Uniform temporal sampling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Frame size: 224 × 224 pixels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 err="1">
                <a:latin typeface="Times New Roman"/>
                <a:ea typeface="+mn-lt"/>
                <a:cs typeface="+mn-lt"/>
              </a:rPr>
              <a:t>Color</a:t>
            </a:r>
            <a:r>
              <a:rPr lang="en-IN" sz="2800" dirty="0">
                <a:latin typeface="Times New Roman"/>
                <a:ea typeface="+mn-lt"/>
                <a:cs typeface="+mn-lt"/>
              </a:rPr>
              <a:t> space: RGB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Normalization:</a:t>
            </a:r>
            <a:endParaRPr lang="en-IN" sz="28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Mean = [0.485, 0.456, 0.406]</a:t>
            </a:r>
            <a:endParaRPr lang="en-IN" sz="28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Std = [0.229, 0.224, 0.225]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endParaRPr lang="en-IN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IN" sz="2800" b="1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1319-C2A6-A2AF-AD7A-C8D36D45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120CAC-F365-3324-E2B3-01635DAD7DD2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43297B7-4939-D06B-D38C-800B35D9FB8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6E389DD-4BDC-43D4-D215-8526D915811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4339DAD-3F0D-84A6-8820-0CF057AD40F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4282FF7-EDC3-1337-46C5-FE8439E5CEE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45B78EF-CDC2-6F4C-92EE-531599868A38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04F3DB5-42AD-2699-9EA4-5214CB52AA00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9A088C1-AA7C-19E2-699B-FB2F7A68FE68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C00F48B-8F9A-F206-CCD2-DD6065737CBC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EBB44D1-A6A1-3DC1-E37C-41FDB2482A0B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D2AA981-3FAF-3A70-D389-12FC36ED6C21}"/>
              </a:ext>
            </a:extLst>
          </p:cNvPr>
          <p:cNvSpPr txBox="1"/>
          <p:nvPr/>
        </p:nvSpPr>
        <p:spPr>
          <a:xfrm>
            <a:off x="1181100" y="2209226"/>
            <a:ext cx="15980114" cy="832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Algorithms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Uniform Sampling Algorithm – Extracts frames at equal time intervals</a:t>
            </a:r>
            <a:endParaRPr lang="en-US" sz="2800" dirty="0"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Bilinear Interpolation – Resizes frames smoothly to 224×224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Z-Score Normalization – Standardizes pixel values using mean and standard deviation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 err="1">
                <a:latin typeface="Times New Roman"/>
                <a:cs typeface="Times New Roman"/>
              </a:rPr>
              <a:t>Color</a:t>
            </a:r>
            <a:r>
              <a:rPr lang="en-IN" sz="2800" dirty="0">
                <a:latin typeface="Times New Roman"/>
                <a:cs typeface="Times New Roman"/>
              </a:rPr>
              <a:t> Space Conversion – Converts frames from BGR to RGB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Calibri"/>
                <a:cs typeface="Calibri"/>
              </a:rPr>
              <a:t>Processing Steps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Loads video using </a:t>
            </a:r>
            <a:r>
              <a:rPr lang="en-IN" sz="2800" dirty="0">
                <a:latin typeface="Times New Roman"/>
                <a:cs typeface="Times New Roman"/>
              </a:rPr>
              <a:t>cv2.VideoCapture()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Calculates total number of frames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Extracts 16 frames uniformly across the video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Resizes frames to 224×224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Converts BGR frames to RGB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Normalizes frames using ImageNet statistics</a:t>
            </a:r>
          </a:p>
          <a:p>
            <a:pPr>
              <a:lnSpc>
                <a:spcPct val="150000"/>
              </a:lnSpc>
            </a:pPr>
            <a:endParaRPr lang="en-IN" sz="2800" b="1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0861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F12-0F5A-CCD3-F734-023AA4DA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44BFE4-EE48-2F35-C32A-C7BCD4DD0A98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9D269AC-D527-BD63-99A3-E44D223F81A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8E49253-A8E7-A3A2-CBC0-568716EBB60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5A16DD-533D-B7CB-B8A1-08C7EBC381E1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401C009-DB91-44D8-1F78-111B13CFEF7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34D0277-217A-903D-0580-81BD9F7DA5A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47D149D-688E-BC16-D28D-91BA1AEAE0D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5267C8B-15F0-D76E-0615-85A6E0940EA1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0A9D8D-3771-54E5-9D41-0C70FF43BB88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BE40790-E9CB-FDBE-6D39-E2F7460B8EE8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99E724F-ADCD-7F5B-7285-1A0AAB720534}"/>
              </a:ext>
            </a:extLst>
          </p:cNvPr>
          <p:cNvSpPr txBox="1"/>
          <p:nvPr/>
        </p:nvSpPr>
        <p:spPr>
          <a:xfrm>
            <a:off x="1181100" y="2209226"/>
            <a:ext cx="15980114" cy="7678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Output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Tensor shape: (16, 3, 224, 224)</a:t>
            </a:r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Data type: Float32</a:t>
            </a:r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Format: Normalized RGB frames ready for CNN input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Module 2: Spatial Feature Extraction (ResNet18)</a:t>
            </a:r>
            <a:endParaRPr lang="en-IN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Objective</a:t>
            </a:r>
            <a:endParaRPr lang="en-IN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/>
                <a:ea typeface="+mn-lt"/>
                <a:cs typeface="+mn-lt"/>
              </a:rPr>
              <a:t>To extract high-level spatial features from each video frame to identify visual artifacts.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Parameters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Architecture: ResNet18 (pretrained on ImageNet)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Input size: 224 × 224 × 3</a:t>
            </a:r>
            <a:endParaRPr lang="en-IN" sz="2800" b="1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IN" sz="2800" b="1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384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257E-8315-A789-C0A4-C7AFF13D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7CF266-FC40-AA40-EBF8-88278C8DD377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ECEA986-F5E0-0FDD-254E-B1D2C5417F2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6B780F1A-BDD3-8E7C-FC9A-BF683B60FFF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91A9413-546F-4CBD-74BC-FA0AF5AF12F3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63A7EFC-F0E5-7517-2F5C-9F38C4E38259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2987B42-6546-6407-0108-F77BA0EA2B97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F1879EA-1014-12C0-FF7A-73C7BBA7B812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B67BF7A-1082-C268-1DEB-F41F01EF08F6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2A32159-0E01-D8E0-7302-7A9F66A18B99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04E03DB-0A3C-620A-EE01-E3AC3CE5727A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1B731C2-97AB-EA0B-2337-2ADA0AB8E772}"/>
              </a:ext>
            </a:extLst>
          </p:cNvPr>
          <p:cNvSpPr txBox="1"/>
          <p:nvPr/>
        </p:nvSpPr>
        <p:spPr>
          <a:xfrm>
            <a:off x="1181100" y="2209226"/>
            <a:ext cx="15980114" cy="10263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Feature dimension: 512 features per frame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Modified layers: Final fully connected layer removed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Processing: 16 frames processed sequentially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/>
                <a:cs typeface="Times New Roman"/>
              </a:rPr>
              <a:t>Algorithms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Convolutional Neural Networks (CNN) – Hierarchical spatial feature extraction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Residual Learning – Skip connections prevent vanishing gradients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Batch Normalization – Stabilizes and accelerates training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 err="1">
                <a:latin typeface="Times New Roman"/>
                <a:ea typeface="+mn-lt"/>
                <a:cs typeface="+mn-lt"/>
              </a:rPr>
              <a:t>ReLU</a:t>
            </a:r>
            <a:r>
              <a:rPr lang="en-IN" sz="2800" dirty="0">
                <a:latin typeface="Times New Roman"/>
                <a:ea typeface="+mn-lt"/>
                <a:cs typeface="+mn-lt"/>
              </a:rPr>
              <a:t> Activation – Introduces non-linearity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Global Average Pooling – Converts feature maps to vectors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Transfer Learning – Uses pretrained ImageNet weights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/>
                <a:cs typeface="Times New Roman"/>
              </a:rPr>
              <a:t>Processing Steps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Calibri"/>
                <a:cs typeface="Calibri"/>
              </a:rPr>
              <a:t>Receives normalized frames from OpenCV module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IN" sz="2800" dirty="0">
              <a:latin typeface="Times New Roman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,Sans-Serif"/>
              <a:buChar char="•"/>
            </a:pPr>
            <a:endParaRPr lang="en-IN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2800" b="1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836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A7C1E-1D7A-8963-B0B6-CF1C6471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01D709-3FF4-25EA-2B8C-E25287C1CE24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E3C4139-763A-EFBC-DD22-EF17104BC9CE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A6D4F839-DB9C-6D81-9C17-14E85CF08E7D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93CD00B-30AF-35B8-CEE9-149618A3BDB9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CF34048-E4BE-9599-1E08-867A73559DCF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4D51BA5-D39A-761F-CF02-C8D8CD393DD0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CD544BD-4D32-8571-FE99-71AB3F025072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9096164-B8A3-8D29-7B6A-8DCBD2D0A83A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8073425-FB66-ED62-A870-0CF664C208BC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D81F8ED-8774-6026-2A6E-86A7631F8DF8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483A171-0C97-E98F-BA98-5F5398EBD21B}"/>
              </a:ext>
            </a:extLst>
          </p:cNvPr>
          <p:cNvSpPr txBox="1"/>
          <p:nvPr/>
        </p:nvSpPr>
        <p:spPr>
          <a:xfrm>
            <a:off x="1181100" y="2209226"/>
            <a:ext cx="15980114" cy="832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Passes each frame through convolutional and residual blocks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Extracts spatial features from final pooling layer</a:t>
            </a:r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Removes classification head</a:t>
            </a:r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Stacks feature vectors while maintaining temporal order</a:t>
            </a: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Output</a:t>
            </a:r>
            <a:endParaRPr lang="en-IN" sz="2800" b="1" dirty="0"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Tensor shape: (16, 512)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Data type: Float32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800" dirty="0">
                <a:latin typeface="Times New Roman"/>
                <a:ea typeface="+mn-lt"/>
                <a:cs typeface="+mn-lt"/>
              </a:rPr>
              <a:t>Format: Sequence of spatial feature vectors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Module 3: Temporal Pattern Analysis (LSTM)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Objective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/>
                <a:ea typeface="+mn-lt"/>
                <a:cs typeface="+mn-lt"/>
              </a:rPr>
              <a:t>To </a:t>
            </a:r>
            <a:r>
              <a:rPr lang="en-IN" sz="2800" dirty="0" err="1">
                <a:latin typeface="Times New Roman"/>
                <a:ea typeface="+mn-lt"/>
                <a:cs typeface="+mn-lt"/>
              </a:rPr>
              <a:t>analyze</a:t>
            </a:r>
            <a:r>
              <a:rPr lang="en-IN" sz="2800" dirty="0">
                <a:latin typeface="Times New Roman"/>
                <a:ea typeface="+mn-lt"/>
                <a:cs typeface="+mn-lt"/>
              </a:rPr>
              <a:t> frame-to-frame temporal relationships and detect inconsistencies over time.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317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76A4-CB85-8475-16A3-07EAEB43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1B5121-874E-B06A-7FA9-ACE46596641B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EB865B8-88F9-AEAB-0FD2-A7B4F99EBA2E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795E96CF-2A29-EBF1-8E72-9A4F0DBC797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31FD284-F6C2-20FD-A78A-42B6C0E230CD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BC46ED9-131D-FA7E-2B1F-67D1F740FA0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F3F307A-2DEB-D043-4520-D610597D4242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364E8B5-B426-593C-C328-7855FB9D4EB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D327753-50CB-D41F-F312-E385CFB70F13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E764AF2-F4BC-CCD3-CAD3-02D36517F08E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C508211-E700-A859-E43A-67A1BC473632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E2FBF83-FF39-3A43-9A04-56DACAC06D17}"/>
              </a:ext>
            </a:extLst>
          </p:cNvPr>
          <p:cNvSpPr txBox="1"/>
          <p:nvPr/>
        </p:nvSpPr>
        <p:spPr>
          <a:xfrm>
            <a:off x="1181100" y="2209226"/>
            <a:ext cx="15980114" cy="832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+mn-lt"/>
                <a:cs typeface="Times New Roman"/>
              </a:rPr>
              <a:t>Parameters</a:t>
            </a:r>
            <a:endParaRPr lang="en-IN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Input size: 512 (from ResNet18)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Hidden size: 256 units</a:t>
            </a:r>
            <a:endParaRPr lang="en-IN" sz="2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Number of layers: 2 stacked LSTM layers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Sequence length: 16 timesteps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Dropout: 0.3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Bidirectional: No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+mn-lt"/>
                <a:cs typeface="Times New Roman"/>
              </a:rPr>
              <a:t>Algorithms 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Long Short-Term Memory (LSTM) – Captures long-term temporal dependencies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Gating Mechanism – Controls information flow using input, forget, 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and output gates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Recurrent Neural Networks (RNN) – Processes sequential data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Times New Roman"/>
              </a:rPr>
              <a:t>Dropout Regularization – Reduces overfitting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930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E7B7-421B-7E1B-2DB2-ED1CBFBA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DBF48E-3BD1-189B-D670-399894049FF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7DF8538-1919-3B46-BF1A-E94784ADAFA5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8CB7EEA-5B3A-1CC0-0B5E-CA218DA6A6E3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4882FE1-3781-4692-8BD3-FDEC9FAD9263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BF5CCAE7-288B-EA39-1093-C8C8DA24776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3222A5E-DEB4-9503-65BD-D5063A4B4C28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AAA54A5-DD8A-F668-E3FD-39F868F6C361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86BC888-A8CA-367B-20BA-A4F1BB6511E4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DDA2FDB-5559-962F-E266-20375F15A600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78D915A-2CEE-4EB6-40CA-C36C49B99A84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F9BFA30-1478-6667-A495-951742E5A7B9}"/>
              </a:ext>
            </a:extLst>
          </p:cNvPr>
          <p:cNvSpPr txBox="1"/>
          <p:nvPr/>
        </p:nvSpPr>
        <p:spPr>
          <a:xfrm>
            <a:off x="1181100" y="2209226"/>
            <a:ext cx="15980114" cy="897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Hidden State Propagation – Maintains temporal context</a:t>
            </a:r>
            <a:endParaRPr lang="en-US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Backpropagation Through Time (BPTT) – Trains sequential models</a:t>
            </a:r>
            <a:endParaRPr lang="en-IN"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+mn-lt"/>
                <a:cs typeface="Times New Roman"/>
              </a:rPr>
              <a:t>Processing Steps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Receives spatial feature sequence (16, </a:t>
            </a:r>
            <a:r>
              <a:rPr lang="en-IN" sz="2800" dirty="0">
                <a:latin typeface="Times New Roman"/>
                <a:cs typeface="Times New Roman"/>
              </a:rPr>
              <a:t>512)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Processes sequence through first 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LSTM </a:t>
            </a:r>
            <a:r>
              <a:rPr lang="en-IN" sz="2800" dirty="0">
                <a:latin typeface="Times New Roman"/>
                <a:cs typeface="Times New Roman"/>
              </a:rPr>
              <a:t>layer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Applies dropout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Processes output through second LSTM layer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cs typeface="Times New Roman"/>
              </a:rPr>
              <a:t>Learns temporal inconsistencies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 across frames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+mn-lt"/>
                <a:cs typeface="Times New Roman"/>
              </a:rPr>
              <a:t>Output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Tensor shape: (256,) </a:t>
            </a:r>
            <a:r>
              <a:rPr lang="en-IN" sz="2800" dirty="0">
                <a:latin typeface="Times New Roman"/>
                <a:cs typeface="Times New Roman"/>
              </a:rPr>
              <a:t>(</a:t>
            </a:r>
            <a:r>
              <a:rPr lang="en-IN" sz="2800" dirty="0">
                <a:latin typeface="Times New Roman"/>
                <a:ea typeface="+mn-lt"/>
                <a:cs typeface="Times New Roman"/>
              </a:rPr>
              <a:t>final hidden state</a:t>
            </a:r>
            <a:r>
              <a:rPr lang="en-IN" sz="2800" dirty="0">
                <a:latin typeface="Times New Roman"/>
                <a:cs typeface="Times New Roman"/>
              </a:rPr>
              <a:t>)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+mn-lt"/>
                <a:cs typeface="Times New Roman"/>
              </a:rPr>
              <a:t>Data type: </a:t>
            </a:r>
            <a:r>
              <a:rPr lang="en-IN" sz="2800" dirty="0">
                <a:latin typeface="Times New Roman"/>
                <a:ea typeface="Calibri"/>
                <a:cs typeface="Times New Roman"/>
              </a:rPr>
              <a:t>Float32</a:t>
            </a:r>
            <a:endParaRPr lang="en-IN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800" dirty="0">
                <a:latin typeface="Times New Roman"/>
                <a:ea typeface="Calibri"/>
                <a:cs typeface="Times New Roman"/>
              </a:rPr>
              <a:t>Format: Video-level temporal encoding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IN" sz="28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912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C43E-04A1-7F2C-2181-D0465E1E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0A79C6-0CFD-2F60-6755-DFC4C4D78C18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9953A94-FE1D-386F-23DA-1AD0419CA7C3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CC5FC781-A398-2907-A6AF-630230181A2A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1088841-062F-3F9B-699C-A7570372070C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0F487DC-308C-1EE9-FF0A-AB3A239D6307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FCE6E8A-C50C-D3EF-88D0-A69B90521507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EA6042F-4E7C-4EB0-3E90-5E9F9B727D4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AF1F6D9-4980-40EE-5C40-29138CBDE8BC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DF82F4F-8088-A398-6CF9-CBB3C6D725A1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E540B16-2D9C-E2A1-FCC3-BF0C6EB02866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31F35BA-D31B-0FAA-5BD3-C340A9194081}"/>
              </a:ext>
            </a:extLst>
          </p:cNvPr>
          <p:cNvSpPr txBox="1"/>
          <p:nvPr/>
        </p:nvSpPr>
        <p:spPr>
          <a:xfrm>
            <a:off x="1181100" y="2209226"/>
            <a:ext cx="15980114" cy="8324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/>
                <a:cs typeface="Times New Roman"/>
              </a:rPr>
              <a:t>Module 4: Classification Layer (Final Decision)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/>
                <a:cs typeface="Times New Roman"/>
              </a:rPr>
              <a:t>Objective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/>
                <a:ea typeface="+mn-lt"/>
                <a:cs typeface="+mn-lt"/>
              </a:rPr>
              <a:t>To classify the input video as real or AI-generated based on learned temporal patterns.</a:t>
            </a:r>
            <a:endParaRPr lang="en-US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/>
                <a:cs typeface="Times New Roman"/>
              </a:rPr>
              <a:t>Parameters</a:t>
            </a:r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Input size: 256 (from LSTM)</a:t>
            </a:r>
            <a:endParaRPr lang="en-US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Output size: 1 (binary classification)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Activation function: Sigmoid</a:t>
            </a:r>
            <a:endParaRPr lang="en-US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Decision threshold: 0.5</a:t>
            </a:r>
            <a:endParaRPr lang="en-US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Loss function: Binary Cross-Entropy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Algorithms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Fully Connected (Dense) Layer – Linear transformation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+mn-lt"/>
              </a:rPr>
              <a:t>Sigmoid Activation Function – Maps output to probability (0–1)</a:t>
            </a:r>
            <a:endParaRPr lang="en-IN" sz="2800" dirty="0">
              <a:latin typeface="Times New Roman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0253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7A58-6982-2EAC-27CF-2237A336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57DDD7-4C70-83F6-A463-F775E85D1DDD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BF90FFE-0F9C-18D1-5F81-94E830DD483B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CC3D8EF9-E767-8C9B-13F1-599622EAE98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F8E2189-141A-91AF-EC54-11AA8243C8F1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6403799-AE50-C717-3A5D-F206536D30AB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BD89DEE-DFEF-73AB-DEEE-8BAF3457E1BD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63878E-4CE5-25C5-DDC6-AE8C69284EFC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AEE0E20-9F2F-F647-C189-0FDF566E4EC8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A2B58DC-23D2-EEE4-3003-96CE5D1043BF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B044057-49F7-4BB8-2517-B48B2923B796}"/>
                </a:ext>
              </a:extLst>
            </p:cNvPr>
            <p:cNvSpPr txBox="1"/>
            <p:nvPr/>
          </p:nvSpPr>
          <p:spPr>
            <a:xfrm>
              <a:off x="545033" y="11777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Module Implementation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3A7CF999-01C2-10FB-2B4A-49B08A765A38}"/>
              </a:ext>
            </a:extLst>
          </p:cNvPr>
          <p:cNvSpPr txBox="1"/>
          <p:nvPr/>
        </p:nvSpPr>
        <p:spPr>
          <a:xfrm>
            <a:off x="1181100" y="2209226"/>
            <a:ext cx="15980114" cy="897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Binary Cross-Entropy Loss – Measures prediction 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error</a:t>
            </a:r>
            <a:endParaRPr lang="en-IN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Threshold-based </a:t>
            </a:r>
            <a:r>
              <a:rPr lang="en-US" sz="2800" dirty="0">
                <a:latin typeface="Times New Roman"/>
                <a:cs typeface="Times New Roman"/>
              </a:rPr>
              <a:t>Classification 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– Converts probability to label</a:t>
            </a:r>
            <a:endParaRPr lang="en-IN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Logistic Regression </a:t>
            </a:r>
            <a:r>
              <a:rPr lang="en-US" sz="2800" dirty="0">
                <a:latin typeface="Times New Roman"/>
                <a:cs typeface="Times New Roman"/>
              </a:rPr>
              <a:t>Principle – 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Binary decision making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ea typeface="+mn-lt"/>
                <a:cs typeface="Times New Roman"/>
              </a:rPr>
              <a:t>Processing Steps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Receives temporal encoding from LSTM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Applies fully connected layer (256 → 1)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Applies sigmoid activation</a:t>
            </a:r>
            <a:endParaRPr lang="en-IN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Generates </a:t>
            </a:r>
            <a:r>
              <a:rPr lang="en-US" sz="2800" dirty="0">
                <a:latin typeface="Times New Roman"/>
                <a:cs typeface="Times New Roman"/>
              </a:rPr>
              <a:t>probability score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/>
                <a:cs typeface="Times New Roman"/>
              </a:rPr>
              <a:t>Final Output</a:t>
            </a:r>
            <a:endParaRPr lang="en-IN" sz="2800" b="1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Prediction: AI-Generated </a:t>
            </a:r>
            <a:r>
              <a:rPr lang="en-US" sz="2800" dirty="0">
                <a:latin typeface="Times New Roman"/>
                <a:cs typeface="Times New Roman"/>
              </a:rPr>
              <a:t>/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 Real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Confidence score: 0.0 – 1.0</a:t>
            </a:r>
            <a:endParaRPr lang="en-IN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Decision based on temporal inconsistencies across frames</a:t>
            </a:r>
            <a:endParaRPr lang="en-IN" sz="2800" dirty="0">
              <a:latin typeface="Times New Roman"/>
              <a:ea typeface="Calibri"/>
              <a:cs typeface="Times New Roman"/>
            </a:endParaRPr>
          </a:p>
          <a:p>
            <a:pPr marL="457200" indent="-45720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3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772325" y="721474"/>
            <a:ext cx="7868490" cy="1108105"/>
            <a:chOff x="0" y="0"/>
            <a:chExt cx="10491320" cy="14774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5471" y="16024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Screenshot</a:t>
              </a:r>
            </a:p>
          </p:txBody>
        </p:sp>
      </p:grpSp>
      <p:pic>
        <p:nvPicPr>
          <p:cNvPr id="17" name="Picture 16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AA575594-35B6-6957-8647-0F1A83003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660" y="3457296"/>
            <a:ext cx="14312153" cy="4380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1EB695-6A18-35E8-5BAD-78D7893DD073}"/>
              </a:ext>
            </a:extLst>
          </p:cNvPr>
          <p:cNvSpPr txBox="1"/>
          <p:nvPr/>
        </p:nvSpPr>
        <p:spPr>
          <a:xfrm>
            <a:off x="6880026" y="8568560"/>
            <a:ext cx="3499597" cy="561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50" dirty="0">
                <a:latin typeface="Times New Roman"/>
                <a:ea typeface="Calibri"/>
                <a:cs typeface="Calibri"/>
              </a:rPr>
              <a:t>Testing AI Video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FAE-AD6D-1A1B-8415-FE64C88C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827D7-5F4B-2476-AB79-214046987E73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A252832-991A-0852-E936-69FEC085295C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D0A7D34-21B0-D2A5-D592-3E734DD80B81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9B6A80B-F3C5-EC98-52C3-C28485A7C36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1F7AAAE-FCF3-3D6D-450C-1E0FD208079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ABE4F57-B041-8664-1002-C5E0953A43CD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B6EA79-A7A5-DE0B-D950-6E426667DED3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E6B8C97-7EE8-4CFD-3FD5-8B207205951C}"/>
              </a:ext>
            </a:extLst>
          </p:cNvPr>
          <p:cNvGrpSpPr/>
          <p:nvPr/>
        </p:nvGrpSpPr>
        <p:grpSpPr>
          <a:xfrm>
            <a:off x="772325" y="721474"/>
            <a:ext cx="7868490" cy="1108105"/>
            <a:chOff x="0" y="0"/>
            <a:chExt cx="10491320" cy="147747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45C33F-4268-CB88-2037-7DDCC3F5DEC8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76621C-A5CA-81D0-D317-8D7A9920E24B}"/>
                </a:ext>
              </a:extLst>
            </p:cNvPr>
            <p:cNvSpPr txBox="1"/>
            <p:nvPr/>
          </p:nvSpPr>
          <p:spPr>
            <a:xfrm>
              <a:off x="515471" y="160244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Screenshot</a:t>
              </a:r>
            </a:p>
          </p:txBody>
        </p:sp>
      </p:grpSp>
      <p:pic>
        <p:nvPicPr>
          <p:cNvPr id="17" name="Picture 16" descr="A screen shot of a computer">
            <a:extLst>
              <a:ext uri="{FF2B5EF4-FFF2-40B4-BE49-F238E27FC236}">
                <a16:creationId xmlns:a16="http://schemas.microsoft.com/office/drawing/2014/main" id="{E3DCE991-8072-D113-CF81-0901CDDA7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903" y="3314700"/>
            <a:ext cx="13935841" cy="42076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D103747-F2F6-C197-F2B6-2977AE000AC4}"/>
              </a:ext>
            </a:extLst>
          </p:cNvPr>
          <p:cNvSpPr txBox="1"/>
          <p:nvPr/>
        </p:nvSpPr>
        <p:spPr>
          <a:xfrm>
            <a:off x="6880026" y="8215575"/>
            <a:ext cx="3499597" cy="561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50" dirty="0">
                <a:latin typeface="Times New Roman"/>
                <a:ea typeface="Calibri"/>
                <a:cs typeface="Calibri"/>
              </a:rPr>
              <a:t>Testing Real Video</a:t>
            </a:r>
          </a:p>
        </p:txBody>
      </p:sp>
    </p:spTree>
    <p:extLst>
      <p:ext uri="{BB962C8B-B14F-4D97-AF65-F5344CB8AC3E}">
        <p14:creationId xmlns:p14="http://schemas.microsoft.com/office/powerpoint/2010/main" val="1855687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28700" y="654535"/>
            <a:ext cx="6271173" cy="1175341"/>
            <a:chOff x="0" y="0"/>
            <a:chExt cx="8361564" cy="1567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3839" y="2615109"/>
            <a:ext cx="16861460" cy="510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J. Bai et al.,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AI-Generated Video Detection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via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Spatio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-Temporal Anomaly Learning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arXiv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2024.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Güera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E. J. Delp,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 Video Detection Using Recurrent Neural Networks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Proceedings of the IEEE International Conference on Advanced Video and Signal Based Surveillance (AVSS), 2018.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K. He, X. Zhang, S. Ren, J. Sun,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 Residual Learning for Image Recognition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Proceedings of the IEEE Conference on Computer Vision and Pattern Recognition (CVPR), 2016.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S. Hochreiter, J.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Schmidhuber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Long Short-Term Memory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Neural Computation, 1997.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J. Yang et al., </a:t>
            </a:r>
            <a:r>
              <a:rPr lang="en-US" sz="2800" i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Spatio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-Temporal Inconsistency Learning for Deepfake Video Detection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IEEE Transactions on Multimedia, 2023.</a:t>
            </a:r>
            <a:endParaRPr lang="en-US" sz="2800" dirty="0">
              <a:latin typeface="Times New Roman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256D-AF77-9EB0-C925-E95A288C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B897C0-A161-8801-8CE4-BA4A5EBC36D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A86D383-AF93-568B-056F-CE30D0DB8CD4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8CB12EA0-6D16-2FBD-A97D-AD5E08653C2D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3685CD5-4C90-1EE3-4A54-79BECFDC63C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59A7E1D-F875-CB6E-E134-FDB01DC1C758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6EAE02C-513E-FF41-C732-833682967D0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464B213-6B58-1C1C-033A-6CD9BD0DAAAC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B39164D-9E8A-7B2D-5259-DB92DF9B0557}"/>
              </a:ext>
            </a:extLst>
          </p:cNvPr>
          <p:cNvGrpSpPr/>
          <p:nvPr/>
        </p:nvGrpSpPr>
        <p:grpSpPr>
          <a:xfrm>
            <a:off x="1028700" y="654535"/>
            <a:ext cx="6271173" cy="1175341"/>
            <a:chOff x="0" y="0"/>
            <a:chExt cx="8361564" cy="156712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024D2A-D75B-307B-730C-596F177E7986}"/>
                </a:ext>
              </a:extLst>
            </p:cNvPr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AB58AA7-7C7A-D3C0-74B1-F2B585C614E3}"/>
                </a:ext>
              </a:extLst>
            </p:cNvPr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References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2DC5766-F3D3-DA23-534A-0095B60CF61B}"/>
              </a:ext>
            </a:extLst>
          </p:cNvPr>
          <p:cNvSpPr txBox="1"/>
          <p:nvPr/>
        </p:nvSpPr>
        <p:spPr>
          <a:xfrm>
            <a:off x="1093839" y="2615109"/>
            <a:ext cx="16861460" cy="6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Baoping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Liu, Bo Liu,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Tianqing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Zhu, Ming Ding,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 Review of Deepfake and Its Detection: From Generative Adversarial Networks to Diffusion Models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International Journal of Intelligent Systems, 2025.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David Ghiurău, Daniela Elena Popescu,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Distinguishing Reality from AI: Approaches for Detecting Synthetic Content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Computers (MDPI), 2025.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Sarah Tipper, Hany F.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Atlam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Harjinder Singh Lallie,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An Investigation into the </a:t>
            </a:r>
            <a:r>
              <a:rPr lang="en-US" sz="2800" i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Utilisation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of CNN with LSTM for Video Deepfake Detection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Applied Sciences,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Achhardeep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Kaur, Azadeh Noori Hoshyar, Vidya Saikrishna, Selena Firmin, Feng Xia,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 Video Detection: Challenges and Opportunities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Artificial Intelligence Review,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Zekun Sun, Na Ruan, Jianhua Li,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DDL: Effective and Comprehensible Interpretation Framework for Diverse Deepfake Detectors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IEEE Transactions on Information Forensics and Security, 2025.</a:t>
            </a:r>
            <a:endParaRPr lang="en-US" sz="28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3745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AF3E-CA4E-5542-C814-702F7BB5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78D084-942F-A05A-76D0-F23647ADFDA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5289F4E-69AB-3157-E84A-E3F70B7B6CB5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758C0A1-C563-4D28-132B-292D31D784EB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5D5E969-A474-E603-6B91-260855BD98F0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988A284-E5F1-98ED-60A7-9F64787B8C40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32450CF-0FCD-4309-7F71-79D0E2FD8FA0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BD1ABDC-88D9-6058-6368-B7D42616785A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BA795DC-A704-1C15-7C31-1955DA4B2F5A}"/>
              </a:ext>
            </a:extLst>
          </p:cNvPr>
          <p:cNvGrpSpPr/>
          <p:nvPr/>
        </p:nvGrpSpPr>
        <p:grpSpPr>
          <a:xfrm>
            <a:off x="1028700" y="654535"/>
            <a:ext cx="6271173" cy="1175341"/>
            <a:chOff x="0" y="0"/>
            <a:chExt cx="8361564" cy="156712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4700E28-ECFC-E6C1-7540-9C946B582969}"/>
                </a:ext>
              </a:extLst>
            </p:cNvPr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D88ECF3-A695-F2ED-8EAC-471D117948EB}"/>
                </a:ext>
              </a:extLst>
            </p:cNvPr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References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2298874-E967-FD87-9C2E-C712640018EF}"/>
              </a:ext>
            </a:extLst>
          </p:cNvPr>
          <p:cNvSpPr txBox="1"/>
          <p:nvPr/>
        </p:nvSpPr>
        <p:spPr>
          <a:xfrm>
            <a:off x="1281730" y="2161041"/>
            <a:ext cx="17002378" cy="703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Mohammed Mouad Melouk, Minghao Shao, Abdul Basit,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Chaimae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Abouzahir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Ruilin Zhou, Muhammad Shafique,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EVDO: An Enhanced Framework for Deepfake Detection in Videos Through Optical Flow and Temporal-Spatial Analysis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IEEE Access, 2025.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Peter Edwards, Jean-Christophe Nebel, Darrel Greenhill, Xing Liang,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 Review of Deepfake Techniques: Architecture, Detection, and Datasets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IEEE Access,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Mubarak Alrashoud,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 Video Detection Methods, Approaches, and Challenges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Alexandria Engineering Journal, 2025.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Rozi Khan, Muhammad Sohail, Imran Usman,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Moid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Sandhu, Mohsin Raza, Muhammad Azfar Yaqub, Antonio Liotta,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Comparative Study of Deep Learning Techniques for </a:t>
            </a:r>
            <a:r>
              <a:rPr lang="en-US" sz="2800" i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Video Detection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ICT Express,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Wurood A. Jbara, Noor Al-Huda K. Hussein, Jamila H. Soud,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 Detection in Video and Audio Clips: A Comprehensive Survey and Analysis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Mesopotamian Journal of Cybersecurity, 2024.</a:t>
            </a:r>
            <a:endParaRPr lang="en-US" sz="28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6428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90340"/>
            <a:ext cx="18288000" cy="480060"/>
            <a:chOff x="0" y="0"/>
            <a:chExt cx="24384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40080"/>
            </a:xfrm>
            <a:custGeom>
              <a:avLst/>
              <a:gdLst/>
              <a:ahLst/>
              <a:cxnLst/>
              <a:rect l="l" t="t" r="r" b="b"/>
              <a:pathLst>
                <a:path w="24384000" h="640080">
                  <a:moveTo>
                    <a:pt x="0" y="0"/>
                  </a:moveTo>
                  <a:lnTo>
                    <a:pt x="24384000" y="0"/>
                  </a:lnTo>
                  <a:lnTo>
                    <a:pt x="24384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258920"/>
            <a:ext cx="1066800" cy="342900"/>
            <a:chOff x="0" y="0"/>
            <a:chExt cx="1422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2400" cy="457200"/>
            </a:xfrm>
            <a:custGeom>
              <a:avLst/>
              <a:gdLst/>
              <a:ahLst/>
              <a:cxnLst/>
              <a:rect l="l" t="t" r="r" b="b"/>
              <a:pathLst>
                <a:path w="1422400" h="457200">
                  <a:moveTo>
                    <a:pt x="0" y="0"/>
                  </a:moveTo>
                  <a:lnTo>
                    <a:pt x="1422400" y="0"/>
                  </a:lnTo>
                  <a:lnTo>
                    <a:pt x="14224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1100" y="2258920"/>
            <a:ext cx="17106900" cy="342900"/>
            <a:chOff x="0" y="0"/>
            <a:chExt cx="2280920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09200" cy="457200"/>
            </a:xfrm>
            <a:custGeom>
              <a:avLst/>
              <a:gdLst/>
              <a:ahLst/>
              <a:cxnLst/>
              <a:rect l="l" t="t" r="r" b="b"/>
              <a:pathLst>
                <a:path w="22809200" h="457200">
                  <a:moveTo>
                    <a:pt x="0" y="0"/>
                  </a:moveTo>
                  <a:lnTo>
                    <a:pt x="22809200" y="0"/>
                  </a:lnTo>
                  <a:lnTo>
                    <a:pt x="22809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2DA2B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88360" y="4152900"/>
            <a:ext cx="10127271" cy="2684526"/>
            <a:chOff x="0" y="0"/>
            <a:chExt cx="13503028" cy="35793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03029" cy="3579368"/>
            </a:xfrm>
            <a:custGeom>
              <a:avLst/>
              <a:gdLst/>
              <a:ahLst/>
              <a:cxnLst/>
              <a:rect l="l" t="t" r="r" b="b"/>
              <a:pathLst>
                <a:path w="13503029" h="3579368">
                  <a:moveTo>
                    <a:pt x="0" y="0"/>
                  </a:moveTo>
                  <a:lnTo>
                    <a:pt x="13503029" y="0"/>
                  </a:lnTo>
                  <a:lnTo>
                    <a:pt x="13503029" y="3579368"/>
                  </a:lnTo>
                  <a:lnTo>
                    <a:pt x="0" y="3579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503028" cy="358889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7280"/>
                </a:lnSpc>
              </a:pPr>
              <a:r>
                <a:rPr lang="en-US" sz="1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lice"/>
                  <a:cs typeface="Times New Roman" panose="02020603050405020304" pitchFamily="18" charset="0"/>
                  <a:sym typeface="Alice"/>
                </a:rPr>
                <a:t>Thank You 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782261" y="7670870"/>
            <a:ext cx="5339470" cy="1342263"/>
          </a:xfrm>
          <a:custGeom>
            <a:avLst/>
            <a:gdLst/>
            <a:ahLst/>
            <a:cxnLst/>
            <a:rect l="l" t="t" r="r" b="b"/>
            <a:pathLst>
              <a:path w="7119294" h="1789684">
                <a:moveTo>
                  <a:pt x="0" y="0"/>
                </a:moveTo>
                <a:lnTo>
                  <a:pt x="7119294" y="0"/>
                </a:lnTo>
                <a:lnTo>
                  <a:pt x="7119294" y="1789684"/>
                </a:lnTo>
                <a:lnTo>
                  <a:pt x="0" y="178968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2377</Words>
  <Application>Microsoft Office PowerPoint</Application>
  <PresentationFormat>Custom</PresentationFormat>
  <Paragraphs>362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Arial,Sans-Serif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FOR PBL PPT (1).pptx</dc:title>
  <dc:creator>DINESH KUMAR</dc:creator>
  <cp:lastModifiedBy>S0484606</cp:lastModifiedBy>
  <cp:revision>780</cp:revision>
  <dcterms:created xsi:type="dcterms:W3CDTF">2006-08-16T00:00:00Z</dcterms:created>
  <dcterms:modified xsi:type="dcterms:W3CDTF">2026-05-06T10:00:07Z</dcterms:modified>
  <dc:identifier>DAG3nfPuQn4</dc:identifier>
</cp:coreProperties>
</file>